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FOODEX2  ·  SUBGROUP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21488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do we code FoodEx2?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822960" y="33832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2E52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Getting the knowledge into an AI so the building blocks fit together.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0"/>
            <a:ext cx="2926080" cy="0"/>
          </a:xfrm>
          <a:prstGeom prst="line">
            <a:avLst/>
          </a:prstGeom>
          <a:noFill/>
          <a:ln w="19050">
            <a:solidFill>
              <a:srgbClr val="E4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5212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 Foster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55321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walk through how a FoodEx2 code actually gets built — and where the hard part really is.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0972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APPROACH, IN ONE SENTENCE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10561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700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my query</a:t>
            </a:r>
            <a:pPr algn="l" indent="0" marL="0">
              <a:lnSpc>
                <a:spcPct val="130000"/>
              </a:lnSpc>
              <a:buNone/>
            </a:pPr>
            <a:r>
              <a:rPr lang="en-US" sz="2700" b="1" dirty="0">
                <a:solidFill>
                  <a:srgbClr val="2E52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→  </a:t>
            </a:r>
            <a:pPr algn="l" indent="0" marL="0">
              <a:lnSpc>
                <a:spcPct val="130000"/>
              </a:lnSpc>
              <a:buNone/>
            </a:pPr>
            <a:r>
              <a:rPr lang="en-US" sz="2700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based on these rules and conditions</a:t>
            </a:r>
            <a:pPr algn="l" indent="0" marL="0">
              <a:lnSpc>
                <a:spcPct val="130000"/>
              </a:lnSpc>
              <a:buNone/>
            </a:pPr>
            <a:r>
              <a:rPr lang="en-US" sz="2700" b="1" dirty="0">
                <a:solidFill>
                  <a:srgbClr val="2E52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→  </a:t>
            </a:r>
            <a:pPr algn="l" indent="0" marL="0">
              <a:lnSpc>
                <a:spcPct val="130000"/>
              </a:lnSpc>
              <a:buNone/>
            </a:pPr>
            <a:r>
              <a:rPr lang="en-US" sz="2700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the FoodEx2 code</a:t>
            </a:r>
            <a:pPr algn="l" indent="0" marL="0">
              <a:lnSpc>
                <a:spcPct val="130000"/>
              </a:lnSpc>
              <a:buNone/>
            </a:pPr>
            <a:r>
              <a:rPr lang="en-US" sz="2700" b="1" dirty="0">
                <a:solidFill>
                  <a:srgbClr val="2E52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→  </a:t>
            </a:r>
            <a:pPr algn="l" indent="0" marL="0">
              <a:lnSpc>
                <a:spcPct val="130000"/>
              </a:lnSpc>
              <a:buNone/>
            </a:pPr>
            <a:r>
              <a:rPr lang="en-US" sz="2700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choose the best match</a:t>
            </a:r>
            <a:pPr algn="l" indent="0" marL="0">
              <a:lnSpc>
                <a:spcPct val="130000"/>
              </a:lnSpc>
              <a:buNone/>
            </a:pPr>
            <a:r>
              <a:rPr lang="en-US" sz="2700" b="1" dirty="0">
                <a:solidFill>
                  <a:srgbClr val="2E52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→  </a:t>
            </a:r>
            <a:pPr algn="l" indent="0" marL="0">
              <a:lnSpc>
                <a:spcPct val="130000"/>
              </a:lnSpc>
              <a:buNone/>
            </a:pPr>
            <a:r>
              <a:rPr lang="en-US" sz="2700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this list of building blocks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22960" y="4983480"/>
            <a:ext cx="10561320" cy="0"/>
          </a:xfrm>
          <a:prstGeom prst="line">
            <a:avLst/>
          </a:prstGeom>
          <a:noFill/>
          <a:ln w="12700">
            <a:solidFill>
              <a:srgbClr val="E4E2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521208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 captures the entire approach.  </a:t>
            </a:r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434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rest of this talk is everything that sentence quietly hides — because each part has its own complications.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11002975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we code FoodEx2?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2E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   WHAT THE SENTENCE IS DOING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parts, five problems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20116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52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my query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5669280" y="2011680"/>
            <a:ext cx="5715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34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user's words — free text, any language.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822960" y="2688336"/>
            <a:ext cx="10561320" cy="0"/>
          </a:xfrm>
          <a:prstGeom prst="line">
            <a:avLst/>
          </a:prstGeom>
          <a:noFill/>
          <a:ln w="9525">
            <a:solidFill>
              <a:srgbClr val="E4E2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85292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52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based on these rules and conditions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5669280" y="2852928"/>
            <a:ext cx="5715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34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FoodEx2 business rules we hand the model.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22960" y="3529584"/>
            <a:ext cx="10561320" cy="0"/>
          </a:xfrm>
          <a:prstGeom prst="line">
            <a:avLst/>
          </a:prstGeom>
          <a:noFill/>
          <a:ln w="9525">
            <a:solidFill>
              <a:srgbClr val="E4E2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694176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52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the FoodEx2 code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5669280" y="3694176"/>
            <a:ext cx="5715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34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 a valid code — base term plus facets.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22960" y="4370832"/>
            <a:ext cx="10561320" cy="0"/>
          </a:xfrm>
          <a:prstGeom prst="line">
            <a:avLst/>
          </a:prstGeom>
          <a:noFill/>
          <a:ln w="9525">
            <a:solidFill>
              <a:srgbClr val="E4E2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535424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52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choose the best match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5669280" y="4535424"/>
            <a:ext cx="5715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34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selects, validates, and constructs.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22960" y="5212080"/>
            <a:ext cx="10561320" cy="0"/>
          </a:xfrm>
          <a:prstGeom prst="line">
            <a:avLst/>
          </a:prstGeom>
          <a:noFill/>
          <a:ln w="9525">
            <a:solidFill>
              <a:srgbClr val="E4E2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537667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52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this list of building blocks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5669280" y="5376672"/>
            <a:ext cx="5715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34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terms from vector search — not invented.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1002975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we code FoodEx2?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2E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§2   THE REFRAME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blocks are the easy part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434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search returns the building blocks: candidate base terms and facet descriptors from the catalogue. Retrieval is the solved part.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822960" y="306324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Knowing how those blocks fit together into a valid code is </a:t>
            </a:r>
            <a:pPr indent="0" marL="0">
              <a:lnSpc>
                <a:spcPct val="120000"/>
              </a:lnSpc>
              <a:buNone/>
            </a:pPr>
            <a:r>
              <a:rPr lang="en-US" sz="1550" b="1" dirty="0">
                <a:solidFill>
                  <a:srgbClr val="2E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</a:t>
            </a:r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So the real question of this talk: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822960" y="4160520"/>
            <a:ext cx="5852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100" b="1" i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do we transfer that knowledge to the AI, so it can build the code?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0" y="22860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BLOCKS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315200" y="2697480"/>
            <a:ext cx="1188720" cy="914400"/>
          </a:xfrm>
          <a:prstGeom prst="rect">
            <a:avLst/>
          </a:prstGeom>
          <a:solidFill>
            <a:srgbClr val="FCFCFA"/>
          </a:solidFill>
          <a:ln w="15875">
            <a:solidFill>
              <a:srgbClr val="2E52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0" y="28346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A039M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0" y="321868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686800" y="2697480"/>
            <a:ext cx="1188720" cy="914400"/>
          </a:xfrm>
          <a:prstGeom prst="rect">
            <a:avLst/>
          </a:prstGeom>
          <a:solidFill>
            <a:srgbClr val="FCFCFA"/>
          </a:solidFill>
          <a:ln w="15875">
            <a:solidFill>
              <a:srgbClr val="2E52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0" y="28346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F28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686800" y="321868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0058400" y="2697480"/>
            <a:ext cx="1188720" cy="914400"/>
          </a:xfrm>
          <a:prstGeom prst="rect">
            <a:avLst/>
          </a:prstGeom>
          <a:solidFill>
            <a:srgbClr val="FCFCFA"/>
          </a:solidFill>
          <a:ln w="15875">
            <a:solidFill>
              <a:srgbClr val="2E524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0" y="28346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F21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0" y="321868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315200" y="38404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E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assembled with knowledge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0" y="4343400"/>
            <a:ext cx="4160520" cy="777240"/>
          </a:xfrm>
          <a:prstGeom prst="rect">
            <a:avLst/>
          </a:prstGeom>
          <a:solidFill>
            <a:srgbClr val="2E5247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0" y="4343400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A039M#F28.A07MR$F21.A07SE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315200" y="516636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valid FoodEx2 code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1002975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we code FoodEx2?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2E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§3   FROM THIS LIST OF BUILDING BLOCKS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blocks: candidates, not invented codes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627632"/>
            <a:ext cx="10561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my query</a:t>
            </a:r>
            <a:pPr algn="l" indent="0" marL="0">
              <a:buNone/>
            </a:pPr>
            <a:r>
              <a:rPr lang="en-US" sz="1200" dirty="0">
                <a:solidFill>
                  <a:srgbClr val="C9C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›   </a:t>
            </a:r>
            <a:pPr algn="l" indent="0" marL="0">
              <a:buNone/>
            </a:pPr>
            <a:r>
              <a:rPr lang="en-US" sz="12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these rules and conditions</a:t>
            </a:r>
            <a:pPr algn="l" indent="0" marL="0">
              <a:buNone/>
            </a:pPr>
            <a:r>
              <a:rPr lang="en-US" sz="1200" dirty="0">
                <a:solidFill>
                  <a:srgbClr val="C9C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›   </a:t>
            </a:r>
            <a:pPr algn="l" indent="0" marL="0">
              <a:buNone/>
            </a:pPr>
            <a:r>
              <a:rPr lang="en-US" sz="12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the FoodEx2 code</a:t>
            </a:r>
            <a:pPr algn="l" indent="0" marL="0">
              <a:buNone/>
            </a:pPr>
            <a:r>
              <a:rPr lang="en-US" sz="1200" dirty="0">
                <a:solidFill>
                  <a:srgbClr val="C9C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›   </a:t>
            </a:r>
            <a:pPr algn="l" indent="0" marL="0">
              <a:buNone/>
            </a:pPr>
            <a:r>
              <a:rPr lang="en-US" sz="12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best match</a:t>
            </a:r>
            <a:pPr algn="l" indent="0" marL="0">
              <a:buNone/>
            </a:pPr>
            <a:r>
              <a:rPr lang="en-US" sz="1200" dirty="0">
                <a:solidFill>
                  <a:srgbClr val="C9C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›   </a:t>
            </a:r>
            <a:pPr algn="l" indent="0" marL="0">
              <a:buNone/>
            </a:pPr>
            <a:r>
              <a:rPr lang="en-US" sz="1200" b="1" dirty="0">
                <a:solidFill>
                  <a:srgbClr val="2E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this list of building blocks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224028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434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never recalls codes; it builds only from retrieved terms. Retrieval is bounded by the live catalogue — MTX 17.1, 31,392 active terms — so every block is, by construction, a real code.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32461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 — “organic apple juice”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361188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52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A039M    </a:t>
            </a:r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Juice, apple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411480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52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A03AQ    </a:t>
            </a:r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Juice, apple-grape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461772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52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A03AR    </a:t>
            </a:r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Juice, apple-cherry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583680" y="3246120"/>
            <a:ext cx="54864" cy="2468880"/>
          </a:xfrm>
          <a:prstGeom prst="rect">
            <a:avLst/>
          </a:prstGeom>
          <a:solidFill>
            <a:srgbClr val="2E5247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0" y="3291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E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COMPLICATION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0" y="3657600"/>
            <a:ext cx="4572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block isn't always in the list. </a:t>
            </a:r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434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catalogue tuned for foods can't return a non-food matrix — ask it for sheep urine and it offers milk, offal, kidney. The correct base (A0C60) is simply not retrievable, so no amount of selecting fixes it.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002975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we code FoodEx2?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2E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   FROM MY QUERY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query: break it apart before you can search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627632"/>
            <a:ext cx="10561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my query</a:t>
            </a:r>
            <a:pPr algn="l" indent="0" marL="0">
              <a:buNone/>
            </a:pPr>
            <a:r>
              <a:rPr lang="en-US" sz="1200" dirty="0">
                <a:solidFill>
                  <a:srgbClr val="C9C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›   </a:t>
            </a:r>
            <a:pPr algn="l" indent="0" marL="0">
              <a:buNone/>
            </a:pPr>
            <a:r>
              <a:rPr lang="en-US" sz="12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these rules and conditions</a:t>
            </a:r>
            <a:pPr algn="l" indent="0" marL="0">
              <a:buNone/>
            </a:pPr>
            <a:r>
              <a:rPr lang="en-US" sz="1200" dirty="0">
                <a:solidFill>
                  <a:srgbClr val="C9C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›   </a:t>
            </a:r>
            <a:pPr algn="l" indent="0" marL="0">
              <a:buNone/>
            </a:pPr>
            <a:r>
              <a:rPr lang="en-US" sz="12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the FoodEx2 code</a:t>
            </a:r>
            <a:pPr algn="l" indent="0" marL="0">
              <a:buNone/>
            </a:pPr>
            <a:r>
              <a:rPr lang="en-US" sz="1200" dirty="0">
                <a:solidFill>
                  <a:srgbClr val="C9C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›   </a:t>
            </a:r>
            <a:pPr algn="l" indent="0" marL="0">
              <a:buNone/>
            </a:pPr>
            <a:r>
              <a:rPr lang="en-US" sz="12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best match</a:t>
            </a:r>
            <a:pPr algn="l" indent="0" marL="0">
              <a:buNone/>
            </a:pPr>
            <a:r>
              <a:rPr lang="en-US" sz="1200" dirty="0">
                <a:solidFill>
                  <a:srgbClr val="C9C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›   </a:t>
            </a:r>
            <a:pPr algn="l" indent="0" marL="0">
              <a:buNone/>
            </a:pPr>
            <a:r>
              <a:rPr lang="en-US" sz="12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this list of building blocks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224028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434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FoodEx2 code is a base term plus facets — so the first job is to split the free-text query into those pieces. Only then can each piece be searched.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3200400"/>
            <a:ext cx="5120640" cy="2331720"/>
          </a:xfrm>
          <a:prstGeom prst="rect">
            <a:avLst/>
          </a:prstGeom>
          <a:solidFill>
            <a:srgbClr val="F2F1EC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33832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“organic apple juice from concentrate”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097280" y="3840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E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deconstruct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097280" y="416052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2E52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</a:t>
            </a:r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apple juice
</a:t>
            </a:r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2E52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facet</a:t>
            </a:r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from concentrate
</a:t>
            </a:r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2E52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facet</a:t>
            </a:r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organic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583680" y="3200400"/>
            <a:ext cx="54864" cy="2331720"/>
          </a:xfrm>
          <a:prstGeom prst="rect">
            <a:avLst/>
          </a:prstGeom>
          <a:solidFill>
            <a:srgbClr val="2E5247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0" y="3246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E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COMPLICATION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0" y="3611880"/>
            <a:ext cx="4572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split decides the search. </a:t>
            </a:r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434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versus facet is a judgement made before retrieval — is “smoked” identity or process? — and often across a language barrier. A wrong split sends every downstream stage looking for the wrong thing.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002975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we code FoodEx2?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2E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§5   CREATE THE FOODEX2 CODE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Building the code takes knowledge at four levels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627632"/>
            <a:ext cx="10561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my query</a:t>
            </a:r>
            <a:pPr algn="l" indent="0" marL="0">
              <a:buNone/>
            </a:pPr>
            <a:r>
              <a:rPr lang="en-US" sz="1200" dirty="0">
                <a:solidFill>
                  <a:srgbClr val="C9C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›   </a:t>
            </a:r>
            <a:pPr algn="l" indent="0" marL="0">
              <a:buNone/>
            </a:pPr>
            <a:r>
              <a:rPr lang="en-US" sz="12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these rules and conditions</a:t>
            </a:r>
            <a:pPr algn="l" indent="0" marL="0">
              <a:buNone/>
            </a:pPr>
            <a:r>
              <a:rPr lang="en-US" sz="1200" dirty="0">
                <a:solidFill>
                  <a:srgbClr val="C9C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›   </a:t>
            </a:r>
            <a:pPr algn="l" indent="0" marL="0">
              <a:buNone/>
            </a:pPr>
            <a:r>
              <a:rPr lang="en-US" sz="1200" b="1" dirty="0">
                <a:solidFill>
                  <a:srgbClr val="2E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the FoodEx2 code</a:t>
            </a:r>
            <a:pPr algn="l" indent="0" marL="0">
              <a:buNone/>
            </a:pPr>
            <a:r>
              <a:rPr lang="en-US" sz="1200" dirty="0">
                <a:solidFill>
                  <a:srgbClr val="C9C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›   </a:t>
            </a:r>
            <a:pPr algn="l" indent="0" marL="0">
              <a:buNone/>
            </a:pPr>
            <a:r>
              <a:rPr lang="en-US" sz="12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best match</a:t>
            </a:r>
            <a:pPr algn="l" indent="0" marL="0">
              <a:buNone/>
            </a:pPr>
            <a:r>
              <a:rPr lang="en-US" sz="1200" dirty="0">
                <a:solidFill>
                  <a:srgbClr val="C9C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›   </a:t>
            </a:r>
            <a:pPr algn="l" indent="0" marL="0">
              <a:buNone/>
            </a:pPr>
            <a:r>
              <a:rPr lang="en-US" sz="12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this list of building blocks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219456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434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Assembling the blocks into a valid code is not one decision but four — each needing knowledge the model doesn't bring.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22960" y="29260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52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417320" y="2944368"/>
            <a:ext cx="9921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base term    </a:t>
            </a:r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434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Raw, derivative or composite — and what when the right base was never retrieved (A0C60 for a non-food matrix).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22960" y="376732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52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417320" y="3785616"/>
            <a:ext cx="9921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facets, and how to attach them    </a:t>
            </a:r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434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term type allows and forbids — the 31 business rules, BR01–BR31.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22960" y="4608576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52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417320" y="4626864"/>
            <a:ext cx="9921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syntax of the code itself    </a:t>
            </a:r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434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and assembly — # versus $, facet ordering, cardinality, valid combinations.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22960" y="5449824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52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417320" y="5468112"/>
            <a:ext cx="9921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conventions on top    </a:t>
            </a:r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434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choices beyond validity — blood as A0C60 over A0F1T; F33 legislative mapping.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1002975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we code FoodEx2?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2E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§6   BASED ON THESE RULES AND CONDITIONS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rules come from the wiki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627632"/>
            <a:ext cx="10561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my query</a:t>
            </a:r>
            <a:pPr algn="l" indent="0" marL="0">
              <a:buNone/>
            </a:pPr>
            <a:r>
              <a:rPr lang="en-US" sz="1200" dirty="0">
                <a:solidFill>
                  <a:srgbClr val="C9C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›   </a:t>
            </a:r>
            <a:pPr algn="l" indent="0" marL="0">
              <a:buNone/>
            </a:pPr>
            <a:r>
              <a:rPr lang="en-US" sz="1200" b="1" dirty="0">
                <a:solidFill>
                  <a:srgbClr val="2E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these rules and conditions</a:t>
            </a:r>
            <a:pPr algn="l" indent="0" marL="0">
              <a:buNone/>
            </a:pPr>
            <a:r>
              <a:rPr lang="en-US" sz="1200" dirty="0">
                <a:solidFill>
                  <a:srgbClr val="C9C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›   </a:t>
            </a:r>
            <a:pPr algn="l" indent="0" marL="0">
              <a:buNone/>
            </a:pPr>
            <a:r>
              <a:rPr lang="en-US" sz="12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the FoodEx2 code</a:t>
            </a:r>
            <a:pPr algn="l" indent="0" marL="0">
              <a:buNone/>
            </a:pPr>
            <a:r>
              <a:rPr lang="en-US" sz="1200" dirty="0">
                <a:solidFill>
                  <a:srgbClr val="C9C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›   </a:t>
            </a:r>
            <a:pPr algn="l" indent="0" marL="0">
              <a:buNone/>
            </a:pPr>
            <a:r>
              <a:rPr lang="en-US" sz="12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best match</a:t>
            </a:r>
            <a:pPr algn="l" indent="0" marL="0">
              <a:buNone/>
            </a:pPr>
            <a:r>
              <a:rPr lang="en-US" sz="1200" dirty="0">
                <a:solidFill>
                  <a:srgbClr val="C9C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›   </a:t>
            </a:r>
            <a:pPr algn="l" indent="0" marL="0">
              <a:buNone/>
            </a:pPr>
            <a:r>
              <a:rPr lang="en-US" sz="12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this list of building blocks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224028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static rules prompt. </a:t>
            </a:r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434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curated wiki pages are the FoodEx2 rules — for each case a page-picker supplies the rule-pages that apply, alongside the candidates. The knowledge lives where the domain can own it.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3200400"/>
            <a:ext cx="10561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E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per case, not a fixed wall of text.   </a:t>
            </a:r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434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page-picker supplies only the rule-pages relevant to the sample — not one template injected on every query.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22960" y="4041648"/>
            <a:ext cx="10561320" cy="0"/>
          </a:xfrm>
          <a:prstGeom prst="line">
            <a:avLst/>
          </a:prstGeom>
          <a:noFill/>
          <a:ln w="9525">
            <a:solidFill>
              <a:srgbClr val="E4E2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114800"/>
            <a:ext cx="10561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E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 and editable by the domain.   </a:t>
            </a:r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434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are pages experts read, cite and change — not text buried in software. The 31 business rules (BR01–BR31) live here, not in code.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22960" y="4956048"/>
            <a:ext cx="10561320" cy="0"/>
          </a:xfrm>
          <a:prstGeom prst="line">
            <a:avLst/>
          </a:prstGeom>
          <a:noFill/>
          <a:ln w="9525">
            <a:solidFill>
              <a:srgbClr val="E4E2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5029200"/>
            <a:ext cx="10561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E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stay immutable; knowledge compounds.   </a:t>
            </a:r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434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EFSA guidance is the source of truth; durable rules are compiled into concise, cross-linked pages and improved over time.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22960" y="598932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i="1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FoodEx2 sources change rarely but interpretation has high consequence — so compilation pays off more than a heavier retrieval stack.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1002975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we code FoodEx2?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2E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§7   THE CORE QUESTION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should the knowledge live — and how much?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34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can sit in two places. The practical question is how far up this ladder you climb, and when.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2697480"/>
            <a:ext cx="10561320" cy="1051560"/>
          </a:xfrm>
          <a:prstGeom prst="rect">
            <a:avLst/>
          </a:prstGeom>
          <a:solidFill>
            <a:srgbClr val="F2F1EC"/>
          </a:solidFill>
          <a:ln w="12700">
            <a:solidFill>
              <a:srgbClr val="E4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28803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52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Always present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206240" y="288036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 + the wiki rule-pages selected for the case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503920" y="288036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34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Carries the vast majority of cases.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" y="3931920"/>
            <a:ext cx="10561320" cy="1051560"/>
          </a:xfrm>
          <a:prstGeom prst="rect">
            <a:avLst/>
          </a:prstGeom>
          <a:solidFill>
            <a:srgbClr val="FCFCFA"/>
          </a:solidFill>
          <a:ln w="12700">
            <a:solidFill>
              <a:srgbClr val="E4E2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411480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52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Synthesised per query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206240" y="411480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brief written for this exact sample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503920" y="411480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34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Costly. Only earns its keep when a block was never retrievable.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22960" y="5349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testing showed.  </a:t>
            </a:r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434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ordinary foods, adding a per-query brief changed almost nothing — the candidates and rules already carried it. It was decisive in exactly one kind of case: when the correct block could never be retrieved. So the brief is worth paying for only on that blind tail — gate it; don't run it always-on.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002975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we code FoodEx2?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2E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§8   CHOOSE THE BEST MATCH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Selecting and validating the build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627632"/>
            <a:ext cx="10561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my query</a:t>
            </a:r>
            <a:pPr algn="l" indent="0" marL="0">
              <a:buNone/>
            </a:pPr>
            <a:r>
              <a:rPr lang="en-US" sz="1200" dirty="0">
                <a:solidFill>
                  <a:srgbClr val="C9C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›   </a:t>
            </a:r>
            <a:pPr algn="l" indent="0" marL="0">
              <a:buNone/>
            </a:pPr>
            <a:r>
              <a:rPr lang="en-US" sz="12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these rules and conditions</a:t>
            </a:r>
            <a:pPr algn="l" indent="0" marL="0">
              <a:buNone/>
            </a:pPr>
            <a:r>
              <a:rPr lang="en-US" sz="1200" dirty="0">
                <a:solidFill>
                  <a:srgbClr val="C9C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›   </a:t>
            </a:r>
            <a:pPr algn="l" indent="0" marL="0">
              <a:buNone/>
            </a:pPr>
            <a:r>
              <a:rPr lang="en-US" sz="12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the FoodEx2 code</a:t>
            </a:r>
            <a:pPr algn="l" indent="0" marL="0">
              <a:buNone/>
            </a:pPr>
            <a:r>
              <a:rPr lang="en-US" sz="1200" dirty="0">
                <a:solidFill>
                  <a:srgbClr val="C9C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›   </a:t>
            </a:r>
            <a:pPr algn="l" indent="0" marL="0">
              <a:buNone/>
            </a:pPr>
            <a:r>
              <a:rPr lang="en-US" sz="1200" b="1" dirty="0">
                <a:solidFill>
                  <a:srgbClr val="2E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best match</a:t>
            </a:r>
            <a:pPr algn="l" indent="0" marL="0">
              <a:buNone/>
            </a:pPr>
            <a:r>
              <a:rPr lang="en-US" sz="1200" dirty="0">
                <a:solidFill>
                  <a:srgbClr val="C9C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›   </a:t>
            </a:r>
            <a:pPr algn="l" indent="0" marL="0">
              <a:buNone/>
            </a:pPr>
            <a:r>
              <a:rPr lang="en-US" sz="12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this list of building blocks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22402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434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blocks and rules in hand, the model picks the right base, attaches the facets the rules allow, and assembles the code.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3063240"/>
            <a:ext cx="10561320" cy="914400"/>
          </a:xfrm>
          <a:prstGeom prst="rect">
            <a:avLst/>
          </a:prstGeom>
          <a:solidFill>
            <a:srgbClr val="F2F1EC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306324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A039M#F28.A07MR$F21.A07SE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263640" y="306324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E52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A039M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34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apple juice  ·  </a:t>
            </a:r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E52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F28.A07MR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34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from concentrate  ·  </a:t>
            </a:r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E52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F21.A07SE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34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organic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" y="4297680"/>
            <a:ext cx="54864" cy="1554480"/>
          </a:xfrm>
          <a:prstGeom prst="rect">
            <a:avLst/>
          </a:prstGeom>
          <a:solidFill>
            <a:srgbClr val="2E5247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4343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E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IT'S STILL HARD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" y="4709160"/>
            <a:ext cx="10149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Facets are the hard part — and roughly where human experts themselves disagree. </a:t>
            </a:r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434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some cases are convention, not validity: for blood, “Animal blood” (A0F1T) is a perfectly valid code, but the monitoring convention prefers the non-food matrix A0C60. Knowing which to apply is a question of model capability, not more rule text.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002975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we code FoodEx2?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2E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§9   THE WHOLE PICTURE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 to end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78308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34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maps back to one clause of the sentence we started with.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911200" y="2743200"/>
            <a:ext cx="1591056" cy="1005840"/>
          </a:xfrm>
          <a:prstGeom prst="rect">
            <a:avLst/>
          </a:prstGeom>
          <a:solidFill>
            <a:srgbClr val="FCFCFA"/>
          </a:solidFill>
          <a:ln w="15875">
            <a:solidFill>
              <a:srgbClr val="2E52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1200" y="2743200"/>
            <a:ext cx="1591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Query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19760" y="3840480"/>
            <a:ext cx="1773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i="1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my query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465680" y="2743200"/>
            <a:ext cx="2377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E52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666848" y="2743200"/>
            <a:ext cx="1591056" cy="1005840"/>
          </a:xfrm>
          <a:prstGeom prst="rect">
            <a:avLst/>
          </a:prstGeom>
          <a:solidFill>
            <a:srgbClr val="FCFCFA"/>
          </a:solidFill>
          <a:ln w="15875">
            <a:solidFill>
              <a:srgbClr val="2E52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66848" y="2743200"/>
            <a:ext cx="1591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Deconstruct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575408" y="3840480"/>
            <a:ext cx="1773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i="1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(split into blocks)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221328" y="2743200"/>
            <a:ext cx="2377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E52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422496" y="2743200"/>
            <a:ext cx="1591056" cy="1005840"/>
          </a:xfrm>
          <a:prstGeom prst="rect">
            <a:avLst/>
          </a:prstGeom>
          <a:solidFill>
            <a:srgbClr val="FCFCFA"/>
          </a:solidFill>
          <a:ln w="15875">
            <a:solidFill>
              <a:srgbClr val="2E52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22496" y="2743200"/>
            <a:ext cx="1591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Search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331056" y="3840480"/>
            <a:ext cx="1773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i="1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building blocks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76976" y="2743200"/>
            <a:ext cx="2377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E52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178144" y="2743200"/>
            <a:ext cx="1591056" cy="1005840"/>
          </a:xfrm>
          <a:prstGeom prst="rect">
            <a:avLst/>
          </a:prstGeom>
          <a:solidFill>
            <a:srgbClr val="FCFCFA"/>
          </a:solidFill>
          <a:ln w="15875">
            <a:solidFill>
              <a:srgbClr val="2E524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78144" y="2743200"/>
            <a:ext cx="1591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Wiki rules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086704" y="3840480"/>
            <a:ext cx="1773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i="1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these rules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732624" y="2743200"/>
            <a:ext cx="2377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E52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933792" y="2743200"/>
            <a:ext cx="1591056" cy="1005840"/>
          </a:xfrm>
          <a:prstGeom prst="rect">
            <a:avLst/>
          </a:prstGeom>
          <a:solidFill>
            <a:srgbClr val="FCFCFA"/>
          </a:solidFill>
          <a:ln w="15875">
            <a:solidFill>
              <a:srgbClr val="2E524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33792" y="2743200"/>
            <a:ext cx="1591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&amp; choose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842352" y="3840480"/>
            <a:ext cx="1773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i="1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the code · choose the best match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9488272" y="2743200"/>
            <a:ext cx="2377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E52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9689440" y="2743200"/>
            <a:ext cx="1591056" cy="1005840"/>
          </a:xfrm>
          <a:prstGeom prst="rect">
            <a:avLst/>
          </a:prstGeom>
          <a:solidFill>
            <a:srgbClr val="2E5247"/>
          </a:solidFill>
          <a:ln w="15875">
            <a:solidFill>
              <a:srgbClr val="2E524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89440" y="2743200"/>
            <a:ext cx="1591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0" y="502920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52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A039M#F28.A07MR$F21.A07SE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1002975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we code FoodEx2?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2E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§10   WHERE THIS LEAVES US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this leaves us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920240"/>
            <a:ext cx="10561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E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blocks are solved.   </a:t>
            </a:r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434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reliably supplies valid candidate terms — the model builds from real codes, not memory.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22960" y="2688336"/>
            <a:ext cx="10561320" cy="0"/>
          </a:xfrm>
          <a:prstGeom prst="line">
            <a:avLst/>
          </a:prstGeom>
          <a:noFill/>
          <a:ln w="9525">
            <a:solidFill>
              <a:srgbClr val="E4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788920"/>
            <a:ext cx="10561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E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is at expert level.   </a:t>
            </a:r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434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base and facets sits roughly where human experts agree among themselves. The remaining gap is knowledge, not horsepower.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22960" y="3557016"/>
            <a:ext cx="10561320" cy="0"/>
          </a:xfrm>
          <a:prstGeom prst="line">
            <a:avLst/>
          </a:prstGeom>
          <a:noFill/>
          <a:ln w="9525">
            <a:solidFill>
              <a:srgbClr val="E4E2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657600"/>
            <a:ext cx="10561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E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transfer is the real work.   </a:t>
            </a:r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434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the assembly rules into the model cleanly — a curated wiki the domain owns, kept concise — is where the leverage is.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22960" y="4425696"/>
            <a:ext cx="10561320" cy="0"/>
          </a:xfrm>
          <a:prstGeom prst="line">
            <a:avLst/>
          </a:prstGeom>
          <a:noFill/>
          <a:ln w="9525">
            <a:solidFill>
              <a:srgbClr val="E4E2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4526280"/>
            <a:ext cx="10561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E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extra knowledge only where it's needed.   </a:t>
            </a:r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434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Per-query briefs pay off only on the structurally-blind tail. Gate them.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22960" y="5294376"/>
            <a:ext cx="10561320" cy="0"/>
          </a:xfrm>
          <a:prstGeom prst="line">
            <a:avLst/>
          </a:prstGeom>
          <a:noFill/>
          <a:ln w="9525">
            <a:solidFill>
              <a:srgbClr val="E4E2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5394960"/>
            <a:ext cx="10561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E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 tail is a model question.   </a:t>
            </a:r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434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Convention-over-validity calls come down to model capability — match the model to the difficulty.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1002975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we code FoodEx2?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do we code FoodEx2?</dc:title>
  <dc:subject>PptxGenJS Presentation</dc:subject>
  <dc:creator>David Foster</dc:creator>
  <cp:lastModifiedBy>David Foster</cp:lastModifiedBy>
  <cp:revision>1</cp:revision>
  <dcterms:created xsi:type="dcterms:W3CDTF">2026-06-06T20:41:02Z</dcterms:created>
  <dcterms:modified xsi:type="dcterms:W3CDTF">2026-06-06T20:41:02Z</dcterms:modified>
</cp:coreProperties>
</file>