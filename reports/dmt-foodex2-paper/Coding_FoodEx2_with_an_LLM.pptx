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1417320"/>
            <a:ext cx="10058400" cy="274320"/>
          </a:xfrm>
          <a:prstGeom prst="rect">
            <a:avLst/>
          </a:prstGeom>
          <a:noFill/>
          <a:ln/>
        </p:spPr>
        <p:txBody>
          <a:bodyPr wrap="square" lIns="0" tIns="0" rIns="0" bIns="0" rtlCol="0" anchor="ctr"/>
          <a:lstStyle/>
          <a:p>
            <a:pPr indent="0" marL="0">
              <a:buNone/>
            </a:pPr>
            <a:r>
              <a:rPr lang="en-US" sz="1200" b="1" spc="300" kern="0" dirty="0">
                <a:solidFill>
                  <a:srgbClr val="2E5247"/>
                </a:solidFill>
                <a:latin typeface="Calibri" pitchFamily="34" charset="0"/>
                <a:ea typeface="Calibri" pitchFamily="34" charset="-122"/>
                <a:cs typeface="Calibri" pitchFamily="34" charset="-120"/>
              </a:rPr>
              <a:t>METHODS  ·  FOODEX2 CODING</a:t>
            </a:r>
            <a:endParaRPr lang="en-US" sz="1200" dirty="0"/>
          </a:p>
        </p:txBody>
      </p:sp>
      <p:sp>
        <p:nvSpPr>
          <p:cNvPr id="3" name="Text 1"/>
          <p:cNvSpPr/>
          <p:nvPr/>
        </p:nvSpPr>
        <p:spPr>
          <a:xfrm>
            <a:off x="822960" y="2103120"/>
            <a:ext cx="10424160" cy="1554480"/>
          </a:xfrm>
          <a:prstGeom prst="rect">
            <a:avLst/>
          </a:prstGeom>
          <a:noFill/>
          <a:ln/>
        </p:spPr>
        <p:txBody>
          <a:bodyPr wrap="square" lIns="0" tIns="0" rIns="0" bIns="0" rtlCol="0" anchor="ctr"/>
          <a:lstStyle/>
          <a:p>
            <a:pPr indent="0" marL="0">
              <a:lnSpc>
                <a:spcPct val="104000"/>
              </a:lnSpc>
              <a:buNone/>
            </a:pPr>
            <a:r>
              <a:rPr lang="en-US" sz="4000" b="1" dirty="0">
                <a:solidFill>
                  <a:srgbClr val="1F2933"/>
                </a:solidFill>
                <a:latin typeface="Georgia" pitchFamily="34" charset="0"/>
                <a:ea typeface="Georgia" pitchFamily="34" charset="-122"/>
                <a:cs typeface="Georgia" pitchFamily="34" charset="-120"/>
              </a:rPr>
              <a:t>Assembling FoodEx2 codes</a:t>
            </a:r>
            <a:endParaRPr lang="en-US" sz="4000" dirty="0"/>
          </a:p>
          <a:p>
            <a:pPr indent="0" marL="0">
              <a:lnSpc>
                <a:spcPct val="104000"/>
              </a:lnSpc>
              <a:buNone/>
            </a:pPr>
            <a:r>
              <a:rPr lang="en-US" sz="4000" b="1" dirty="0">
                <a:solidFill>
                  <a:srgbClr val="1F2933"/>
                </a:solidFill>
                <a:latin typeface="Georgia" pitchFamily="34" charset="0"/>
                <a:ea typeface="Georgia" pitchFamily="34" charset="-122"/>
                <a:cs typeface="Georgia" pitchFamily="34" charset="-120"/>
              </a:rPr>
              <a:t>with a language model</a:t>
            </a:r>
            <a:endParaRPr lang="en-US" sz="4000" dirty="0"/>
          </a:p>
        </p:txBody>
      </p:sp>
      <p:sp>
        <p:nvSpPr>
          <p:cNvPr id="4" name="Text 2"/>
          <p:cNvSpPr/>
          <p:nvPr/>
        </p:nvSpPr>
        <p:spPr>
          <a:xfrm>
            <a:off x="822960" y="3886200"/>
            <a:ext cx="9692640" cy="548640"/>
          </a:xfrm>
          <a:prstGeom prst="rect">
            <a:avLst/>
          </a:prstGeom>
          <a:noFill/>
          <a:ln/>
        </p:spPr>
        <p:txBody>
          <a:bodyPr wrap="square" lIns="0" tIns="0" rIns="0" bIns="0" rtlCol="0" anchor="ctr"/>
          <a:lstStyle/>
          <a:p>
            <a:pPr indent="0" marL="0">
              <a:buNone/>
            </a:pPr>
            <a:r>
              <a:rPr lang="en-US" sz="1700" i="1" dirty="0">
                <a:solidFill>
                  <a:srgbClr val="2E5247"/>
                </a:solidFill>
                <a:latin typeface="Georgia" pitchFamily="34" charset="0"/>
                <a:ea typeface="Georgia" pitchFamily="34" charset="-122"/>
                <a:cs typeface="Georgia" pitchFamily="34" charset="-120"/>
              </a:rPr>
              <a:t>An architecture for acquiring the constituent terms and supplying the knowledge to combine them.</a:t>
            </a:r>
            <a:endParaRPr lang="en-US" sz="1700" dirty="0"/>
          </a:p>
        </p:txBody>
      </p:sp>
      <p:sp>
        <p:nvSpPr>
          <p:cNvPr id="5" name="Shape 3"/>
          <p:cNvSpPr/>
          <p:nvPr/>
        </p:nvSpPr>
        <p:spPr>
          <a:xfrm>
            <a:off x="822960" y="5120640"/>
            <a:ext cx="2926080" cy="0"/>
          </a:xfrm>
          <a:prstGeom prst="line">
            <a:avLst/>
          </a:prstGeom>
          <a:noFill/>
          <a:ln w="19050">
            <a:solidFill>
              <a:srgbClr val="E4E2DC"/>
            </a:solidFill>
            <a:prstDash val="solid"/>
          </a:ln>
        </p:spPr>
      </p:sp>
      <p:sp>
        <p:nvSpPr>
          <p:cNvPr id="6" name="Text 4"/>
          <p:cNvSpPr/>
          <p:nvPr/>
        </p:nvSpPr>
        <p:spPr>
          <a:xfrm>
            <a:off x="822960" y="5285232"/>
            <a:ext cx="7315200" cy="3200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David Foster</a:t>
            </a:r>
            <a:endParaRPr lang="en-US" sz="1400" dirty="0"/>
          </a:p>
        </p:txBody>
      </p:sp>
      <p:sp>
        <p:nvSpPr>
          <p:cNvPr id="7" name="Text 5"/>
          <p:cNvSpPr/>
          <p:nvPr/>
        </p:nvSpPr>
        <p:spPr>
          <a:xfrm>
            <a:off x="822960" y="5596128"/>
            <a:ext cx="8229600" cy="320040"/>
          </a:xfrm>
          <a:prstGeom prst="rect">
            <a:avLst/>
          </a:prstGeom>
          <a:noFill/>
          <a:ln/>
        </p:spPr>
        <p:txBody>
          <a:bodyPr wrap="square" lIns="0" tIns="0" rIns="0" bIns="0" rtlCol="0" anchor="ctr"/>
          <a:lstStyle/>
          <a:p>
            <a:pPr indent="0" marL="0">
              <a:buNone/>
            </a:pPr>
            <a:r>
              <a:rPr lang="en-US" sz="1250" dirty="0">
                <a:solidFill>
                  <a:srgbClr val="9AA0A6"/>
                </a:solidFill>
                <a:latin typeface="Calibri" pitchFamily="34" charset="0"/>
                <a:ea typeface="Calibri" pitchFamily="34" charset="-122"/>
                <a:cs typeface="Calibri" pitchFamily="34" charset="-120"/>
              </a:rPr>
              <a:t>FoodEx2 subgroup</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§1   FRAMING</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600" b="1" dirty="0">
                <a:solidFill>
                  <a:srgbClr val="1F2933"/>
                </a:solidFill>
                <a:latin typeface="Georgia" pitchFamily="34" charset="0"/>
                <a:ea typeface="Georgia" pitchFamily="34" charset="-122"/>
                <a:cs typeface="Georgia" pitchFamily="34" charset="-120"/>
              </a:rPr>
              <a:t>A construction problem, not a classification one</a:t>
            </a:r>
            <a:endParaRPr lang="en-US" sz="2600" dirty="0"/>
          </a:p>
        </p:txBody>
      </p:sp>
      <p:sp>
        <p:nvSpPr>
          <p:cNvPr id="4" name="Text 2"/>
          <p:cNvSpPr/>
          <p:nvPr/>
        </p:nvSpPr>
        <p:spPr>
          <a:xfrm>
            <a:off x="822960" y="1691640"/>
            <a:ext cx="10515600" cy="640080"/>
          </a:xfrm>
          <a:prstGeom prst="rect">
            <a:avLst/>
          </a:prstGeom>
          <a:noFill/>
          <a:ln/>
        </p:spPr>
        <p:txBody>
          <a:bodyPr wrap="square" lIns="0" tIns="0" rIns="0" bIns="0" rtlCol="0" anchor="ctr"/>
          <a:lstStyle/>
          <a:p>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From the outset I framed this as a problem of </a:t>
            </a:r>
            <a:pPr indent="0" marL="0">
              <a:lnSpc>
                <a:spcPct val="122000"/>
              </a:lnSpc>
              <a:buNone/>
            </a:pPr>
            <a:r>
              <a:rPr lang="en-US" sz="1500" b="1" dirty="0">
                <a:solidFill>
                  <a:srgbClr val="2E5247"/>
                </a:solidFill>
                <a:latin typeface="Calibri" pitchFamily="34" charset="0"/>
                <a:ea typeface="Calibri" pitchFamily="34" charset="-122"/>
                <a:cs typeface="Calibri" pitchFamily="34" charset="-120"/>
              </a:rPr>
              <a:t>construction</a:t>
            </a:r>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 not </a:t>
            </a:r>
            <a:pPr indent="0" marL="0">
              <a:lnSpc>
                <a:spcPct val="122000"/>
              </a:lnSpc>
              <a:buNone/>
            </a:pPr>
            <a:r>
              <a:rPr lang="en-US" sz="1500" b="1" dirty="0">
                <a:solidFill>
                  <a:srgbClr val="1F2933"/>
                </a:solidFill>
                <a:latin typeface="Calibri" pitchFamily="34" charset="0"/>
                <a:ea typeface="Calibri" pitchFamily="34" charset="-122"/>
                <a:cs typeface="Calibri" pitchFamily="34" charset="-120"/>
              </a:rPr>
              <a:t>classification</a:t>
            </a:r>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a:t>
            </a:r>
            <a:endParaRPr lang="en-US" sz="1500" dirty="0"/>
          </a:p>
        </p:txBody>
      </p:sp>
      <p:sp>
        <p:nvSpPr>
          <p:cNvPr id="5" name="Text 3"/>
          <p:cNvSpPr/>
          <p:nvPr/>
        </p:nvSpPr>
        <p:spPr>
          <a:xfrm>
            <a:off x="822960" y="2423160"/>
            <a:ext cx="5074920" cy="256032"/>
          </a:xfrm>
          <a:prstGeom prst="rect">
            <a:avLst/>
          </a:prstGeom>
          <a:noFill/>
          <a:ln/>
        </p:spPr>
        <p:txBody>
          <a:bodyPr wrap="square" lIns="0" tIns="0" rIns="0" bIns="0" rtlCol="0" anchor="ctr"/>
          <a:lstStyle/>
          <a:p>
            <a:pPr indent="0" marL="0">
              <a:buNone/>
            </a:pPr>
            <a:r>
              <a:rPr lang="en-US" sz="950" b="1" spc="150" kern="0" dirty="0">
                <a:solidFill>
                  <a:srgbClr val="9AA0A6"/>
                </a:solidFill>
                <a:latin typeface="Calibri" pitchFamily="34" charset="0"/>
                <a:ea typeface="Calibri" pitchFamily="34" charset="-122"/>
                <a:cs typeface="Calibri" pitchFamily="34" charset="-120"/>
              </a:rPr>
              <a:t>THE COMMON FRAMING</a:t>
            </a:r>
            <a:endParaRPr lang="en-US" sz="950" dirty="0"/>
          </a:p>
        </p:txBody>
      </p:sp>
      <p:sp>
        <p:nvSpPr>
          <p:cNvPr id="6" name="Shape 4"/>
          <p:cNvSpPr/>
          <p:nvPr/>
        </p:nvSpPr>
        <p:spPr>
          <a:xfrm>
            <a:off x="822960" y="2697480"/>
            <a:ext cx="5074920" cy="1554480"/>
          </a:xfrm>
          <a:prstGeom prst="rect">
            <a:avLst/>
          </a:prstGeom>
          <a:solidFill>
            <a:srgbClr val="F2F1EC"/>
          </a:solidFill>
          <a:ln w="15875">
            <a:solidFill>
              <a:srgbClr val="E4E2DC"/>
            </a:solidFill>
            <a:prstDash val="solid"/>
          </a:ln>
        </p:spPr>
      </p:sp>
      <p:sp>
        <p:nvSpPr>
          <p:cNvPr id="7" name="Text 5"/>
          <p:cNvSpPr/>
          <p:nvPr/>
        </p:nvSpPr>
        <p:spPr>
          <a:xfrm>
            <a:off x="1097280" y="2898648"/>
            <a:ext cx="4526280" cy="411480"/>
          </a:xfrm>
          <a:prstGeom prst="rect">
            <a:avLst/>
          </a:prstGeom>
          <a:noFill/>
          <a:ln/>
        </p:spPr>
        <p:txBody>
          <a:bodyPr wrap="square" lIns="0" tIns="0" rIns="0" bIns="0" rtlCol="0" anchor="ctr"/>
          <a:lstStyle/>
          <a:p>
            <a:pPr indent="0" marL="0">
              <a:buNone/>
            </a:pPr>
            <a:r>
              <a:rPr lang="en-US" sz="1800" b="1" dirty="0">
                <a:solidFill>
                  <a:srgbClr val="1F2933"/>
                </a:solidFill>
                <a:latin typeface="Georgia" pitchFamily="34" charset="0"/>
                <a:ea typeface="Georgia" pitchFamily="34" charset="-122"/>
                <a:cs typeface="Georgia" pitchFamily="34" charset="-120"/>
              </a:rPr>
              <a:t>Classification</a:t>
            </a:r>
            <a:endParaRPr lang="en-US" sz="1800" dirty="0"/>
          </a:p>
        </p:txBody>
      </p:sp>
      <p:sp>
        <p:nvSpPr>
          <p:cNvPr id="8" name="Text 6"/>
          <p:cNvSpPr/>
          <p:nvPr/>
        </p:nvSpPr>
        <p:spPr>
          <a:xfrm>
            <a:off x="1097280" y="3374136"/>
            <a:ext cx="4572000" cy="777240"/>
          </a:xfrm>
          <a:prstGeom prst="rect">
            <a:avLst/>
          </a:prstGeom>
          <a:noFill/>
          <a:ln/>
        </p:spPr>
        <p:txBody>
          <a:bodyPr wrap="square" lIns="0" tIns="0" rIns="0" bIns="0" rtlCol="0" anchor="ctr"/>
          <a:lstStyle/>
          <a:p>
            <a:pPr indent="0" marL="0">
              <a:lnSpc>
                <a:spcPct val="115000"/>
              </a:lnSpc>
              <a:buNone/>
            </a:pPr>
            <a:r>
              <a:rPr lang="en-US" sz="1300" dirty="0">
                <a:solidFill>
                  <a:srgbClr val="434C54"/>
                </a:solidFill>
                <a:latin typeface="Calibri" pitchFamily="34" charset="0"/>
                <a:ea typeface="Calibri" pitchFamily="34" charset="-122"/>
                <a:cs typeface="Calibri" pitchFamily="34" charset="-120"/>
              </a:rPr>
              <a:t>Choose the correct code from the set of possible codes. A model is trained to predict the label.</a:t>
            </a:r>
            <a:endParaRPr lang="en-US" sz="1300" dirty="0"/>
          </a:p>
        </p:txBody>
      </p:sp>
      <p:sp>
        <p:nvSpPr>
          <p:cNvPr id="9" name="Text 7"/>
          <p:cNvSpPr/>
          <p:nvPr/>
        </p:nvSpPr>
        <p:spPr>
          <a:xfrm>
            <a:off x="6400800" y="2423160"/>
            <a:ext cx="5074920" cy="256032"/>
          </a:xfrm>
          <a:prstGeom prst="rect">
            <a:avLst/>
          </a:prstGeom>
          <a:noFill/>
          <a:ln/>
        </p:spPr>
        <p:txBody>
          <a:bodyPr wrap="square" lIns="0" tIns="0" rIns="0" bIns="0" rtlCol="0" anchor="ctr"/>
          <a:lstStyle/>
          <a:p>
            <a:pPr indent="0" marL="0">
              <a:buNone/>
            </a:pPr>
            <a:r>
              <a:rPr lang="en-US" sz="950" b="1" spc="150" kern="0" dirty="0">
                <a:solidFill>
                  <a:srgbClr val="2E5247"/>
                </a:solidFill>
                <a:latin typeface="Calibri" pitchFamily="34" charset="0"/>
                <a:ea typeface="Calibri" pitchFamily="34" charset="-122"/>
                <a:cs typeface="Calibri" pitchFamily="34" charset="-120"/>
              </a:rPr>
              <a:t>THIS WORK</a:t>
            </a:r>
            <a:endParaRPr lang="en-US" sz="950" dirty="0"/>
          </a:p>
        </p:txBody>
      </p:sp>
      <p:sp>
        <p:nvSpPr>
          <p:cNvPr id="10" name="Shape 8"/>
          <p:cNvSpPr/>
          <p:nvPr/>
        </p:nvSpPr>
        <p:spPr>
          <a:xfrm>
            <a:off x="6400800" y="2697480"/>
            <a:ext cx="5074920" cy="1554480"/>
          </a:xfrm>
          <a:prstGeom prst="rect">
            <a:avLst/>
          </a:prstGeom>
          <a:solidFill>
            <a:srgbClr val="E5ECE8"/>
          </a:solidFill>
          <a:ln w="19050">
            <a:solidFill>
              <a:srgbClr val="2E5247"/>
            </a:solidFill>
            <a:prstDash val="solid"/>
          </a:ln>
        </p:spPr>
      </p:sp>
      <p:sp>
        <p:nvSpPr>
          <p:cNvPr id="11" name="Text 9"/>
          <p:cNvSpPr/>
          <p:nvPr/>
        </p:nvSpPr>
        <p:spPr>
          <a:xfrm>
            <a:off x="6675120" y="2898648"/>
            <a:ext cx="4526280" cy="411480"/>
          </a:xfrm>
          <a:prstGeom prst="rect">
            <a:avLst/>
          </a:prstGeom>
          <a:noFill/>
          <a:ln/>
        </p:spPr>
        <p:txBody>
          <a:bodyPr wrap="square" lIns="0" tIns="0" rIns="0" bIns="0" rtlCol="0" anchor="ctr"/>
          <a:lstStyle/>
          <a:p>
            <a:pPr indent="0" marL="0">
              <a:buNone/>
            </a:pPr>
            <a:r>
              <a:rPr lang="en-US" sz="1800" b="1" dirty="0">
                <a:solidFill>
                  <a:srgbClr val="2E5247"/>
                </a:solidFill>
                <a:latin typeface="Georgia" pitchFamily="34" charset="0"/>
                <a:ea typeface="Georgia" pitchFamily="34" charset="-122"/>
                <a:cs typeface="Georgia" pitchFamily="34" charset="-120"/>
              </a:rPr>
              <a:t>Construction</a:t>
            </a:r>
            <a:endParaRPr lang="en-US" sz="1800" dirty="0"/>
          </a:p>
        </p:txBody>
      </p:sp>
      <p:sp>
        <p:nvSpPr>
          <p:cNvPr id="12" name="Text 10"/>
          <p:cNvSpPr/>
          <p:nvPr/>
        </p:nvSpPr>
        <p:spPr>
          <a:xfrm>
            <a:off x="6675120" y="3374136"/>
            <a:ext cx="4572000" cy="777240"/>
          </a:xfrm>
          <a:prstGeom prst="rect">
            <a:avLst/>
          </a:prstGeom>
          <a:noFill/>
          <a:ln/>
        </p:spPr>
        <p:txBody>
          <a:bodyPr wrap="square" lIns="0" tIns="0" rIns="0" bIns="0" rtlCol="0" anchor="ctr"/>
          <a:lstStyle/>
          <a:p>
            <a:pPr indent="0" marL="0">
              <a:lnSpc>
                <a:spcPct val="115000"/>
              </a:lnSpc>
              <a:buNone/>
            </a:pPr>
            <a:r>
              <a:rPr lang="en-US" sz="1300" dirty="0">
                <a:solidFill>
                  <a:srgbClr val="434C54"/>
                </a:solidFill>
                <a:latin typeface="Calibri" pitchFamily="34" charset="0"/>
                <a:ea typeface="Calibri" pitchFamily="34" charset="-122"/>
                <a:cs typeface="Calibri" pitchFamily="34" charset="-120"/>
              </a:rPr>
              <a:t>Treat the code as a structured object to be built: retrieve the parts, supply the rules, and assemble it.</a:t>
            </a:r>
            <a:endParaRPr lang="en-US" sz="1300" dirty="0"/>
          </a:p>
        </p:txBody>
      </p:sp>
      <p:sp>
        <p:nvSpPr>
          <p:cNvPr id="13" name="Text 11"/>
          <p:cNvSpPr/>
          <p:nvPr/>
        </p:nvSpPr>
        <p:spPr>
          <a:xfrm>
            <a:off x="822960" y="4480560"/>
            <a:ext cx="10515600" cy="914400"/>
          </a:xfrm>
          <a:prstGeom prst="rect">
            <a:avLst/>
          </a:prstGeom>
          <a:noFill/>
          <a:ln/>
        </p:spPr>
        <p:txBody>
          <a:bodyPr wrap="square" lIns="0" tIns="0" rIns="0" bIns="0" rtlCol="0" anchor="ctr"/>
          <a:lstStyle/>
          <a:p>
            <a:pPr indent="0" marL="0">
              <a:lnSpc>
                <a:spcPct val="122000"/>
              </a:lnSpc>
              <a:buNone/>
            </a:pPr>
            <a:r>
              <a:rPr lang="en-US" sz="1350" dirty="0">
                <a:solidFill>
                  <a:srgbClr val="434C54"/>
                </a:solidFill>
                <a:latin typeface="Calibri" pitchFamily="34" charset="0"/>
                <a:ea typeface="Calibri" pitchFamily="34" charset="-122"/>
                <a:cs typeface="Calibri" pitchFamily="34" charset="-120"/>
              </a:rPr>
              <a:t>A FoodEx2 code is not one of a fixed list of labels. It is a base term combined with an open, ordered set of facets, a space far larger than any label set. That makes construction the natural form of the task: assembling a structured object under rules rather than selecting among predefined classes. The machine-learning name for this is structured generation.</a:t>
            </a:r>
            <a:endParaRPr lang="en-US" sz="1350" dirty="0"/>
          </a:p>
        </p:txBody>
      </p:sp>
      <p:sp>
        <p:nvSpPr>
          <p:cNvPr id="14" name="Text 12"/>
          <p:cNvSpPr/>
          <p:nvPr/>
        </p:nvSpPr>
        <p:spPr>
          <a:xfrm>
            <a:off x="822960" y="5577840"/>
            <a:ext cx="10561320" cy="548640"/>
          </a:xfrm>
          <a:prstGeom prst="rect">
            <a:avLst/>
          </a:prstGeom>
          <a:noFill/>
          <a:ln/>
        </p:spPr>
        <p:txBody>
          <a:bodyPr wrap="square" lIns="0" tIns="0" rIns="0" bIns="0" rtlCol="0" anchor="ctr"/>
          <a:lstStyle/>
          <a:p>
            <a:pPr indent="0" marL="0">
              <a:lnSpc>
                <a:spcPct val="115000"/>
              </a:lnSpc>
              <a:buNone/>
            </a:pPr>
            <a:r>
              <a:rPr lang="en-US" sz="1150" i="1" dirty="0">
                <a:solidFill>
                  <a:srgbClr val="9AA0A6"/>
                </a:solidFill>
                <a:latin typeface="Calibri" pitchFamily="34" charset="0"/>
                <a:ea typeface="Calibri" pitchFamily="34" charset="-122"/>
                <a:cs typeface="Calibri" pitchFamily="34" charset="-120"/>
              </a:rPr>
              <a:t>Other efforts have approached the same task as classification, which is a reasonable choice. This work starts from construction instead.</a:t>
            </a:r>
            <a:endParaRPr lang="en-US" sz="1150" dirty="0"/>
          </a:p>
        </p:txBody>
      </p:sp>
      <p:sp>
        <p:nvSpPr>
          <p:cNvPr id="15" name="Text 13"/>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02</a:t>
            </a:r>
            <a:endParaRPr lang="en-US" sz="950" dirty="0"/>
          </a:p>
        </p:txBody>
      </p:sp>
      <p:sp>
        <p:nvSpPr>
          <p:cNvPr id="16" name="Text 14"/>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§1   FRAMING</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Coding as composition</a:t>
            </a:r>
            <a:endParaRPr lang="en-US" sz="2800" dirty="0"/>
          </a:p>
        </p:txBody>
      </p:sp>
      <p:sp>
        <p:nvSpPr>
          <p:cNvPr id="4" name="Text 2"/>
          <p:cNvSpPr/>
          <p:nvPr/>
        </p:nvSpPr>
        <p:spPr>
          <a:xfrm>
            <a:off x="822960" y="1691640"/>
            <a:ext cx="10515600" cy="1097280"/>
          </a:xfrm>
          <a:prstGeom prst="rect">
            <a:avLst/>
          </a:prstGeom>
          <a:noFill/>
          <a:ln/>
        </p:spPr>
        <p:txBody>
          <a:bodyPr wrap="square" lIns="0" tIns="0" rIns="0" bIns="0" rtlCol="0" anchor="ctr"/>
          <a:lstStyle/>
          <a:p>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A FoodEx2 code is a compositional object: a base term qualified by an ordered set of facets. Building one separates into two problems of unequal difficulty: acquiring the constituent terms (the parts), and applying the knowledge needed to combine them into a valid code.</a:t>
            </a:r>
            <a:endParaRPr lang="en-US" sz="1500" dirty="0"/>
          </a:p>
        </p:txBody>
      </p:sp>
      <p:sp>
        <p:nvSpPr>
          <p:cNvPr id="5" name="Shape 3"/>
          <p:cNvSpPr/>
          <p:nvPr/>
        </p:nvSpPr>
        <p:spPr>
          <a:xfrm>
            <a:off x="1371600" y="3520440"/>
            <a:ext cx="2926080" cy="1143000"/>
          </a:xfrm>
          <a:prstGeom prst="rect">
            <a:avLst/>
          </a:prstGeom>
          <a:solidFill>
            <a:srgbClr val="F2F1EC"/>
          </a:solidFill>
          <a:ln w="15875">
            <a:solidFill>
              <a:srgbClr val="2E5247"/>
            </a:solidFill>
            <a:prstDash val="solid"/>
          </a:ln>
        </p:spPr>
      </p:sp>
      <p:sp>
        <p:nvSpPr>
          <p:cNvPr id="6" name="Text 4"/>
          <p:cNvSpPr/>
          <p:nvPr/>
        </p:nvSpPr>
        <p:spPr>
          <a:xfrm>
            <a:off x="1417320" y="3691890"/>
            <a:ext cx="2834640" cy="4572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The parts</a:t>
            </a:r>
            <a:endParaRPr lang="en-US" sz="1250" dirty="0"/>
          </a:p>
        </p:txBody>
      </p:sp>
      <p:sp>
        <p:nvSpPr>
          <p:cNvPr id="7" name="Text 5"/>
          <p:cNvSpPr/>
          <p:nvPr/>
        </p:nvSpPr>
        <p:spPr>
          <a:xfrm>
            <a:off x="1426464" y="4171950"/>
            <a:ext cx="2816352" cy="354330"/>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constituent catalogue terms</a:t>
            </a:r>
            <a:endParaRPr lang="en-US" sz="900" dirty="0"/>
          </a:p>
        </p:txBody>
      </p:sp>
      <p:sp>
        <p:nvSpPr>
          <p:cNvPr id="8" name="Text 6"/>
          <p:cNvSpPr/>
          <p:nvPr/>
        </p:nvSpPr>
        <p:spPr>
          <a:xfrm>
            <a:off x="4389120" y="3520440"/>
            <a:ext cx="640080" cy="1143000"/>
          </a:xfrm>
          <a:prstGeom prst="rect">
            <a:avLst/>
          </a:prstGeom>
          <a:noFill/>
          <a:ln/>
        </p:spPr>
        <p:txBody>
          <a:bodyPr wrap="square" lIns="0" tIns="0" rIns="0" bIns="0" rtlCol="0" anchor="ctr"/>
          <a:lstStyle/>
          <a:p>
            <a:pPr algn="ctr" indent="0" marL="0">
              <a:buNone/>
            </a:pPr>
            <a:r>
              <a:rPr lang="en-US" sz="3000" dirty="0">
                <a:solidFill>
                  <a:srgbClr val="9AA0A6"/>
                </a:solidFill>
                <a:latin typeface="Georgia" pitchFamily="34" charset="0"/>
                <a:ea typeface="Georgia" pitchFamily="34" charset="-122"/>
                <a:cs typeface="Georgia" pitchFamily="34" charset="-120"/>
              </a:rPr>
              <a:t>+</a:t>
            </a:r>
            <a:endParaRPr lang="en-US" sz="3000" dirty="0"/>
          </a:p>
        </p:txBody>
      </p:sp>
      <p:sp>
        <p:nvSpPr>
          <p:cNvPr id="9" name="Shape 7"/>
          <p:cNvSpPr/>
          <p:nvPr/>
        </p:nvSpPr>
        <p:spPr>
          <a:xfrm>
            <a:off x="5120640" y="3520440"/>
            <a:ext cx="2926080" cy="1143000"/>
          </a:xfrm>
          <a:prstGeom prst="rect">
            <a:avLst/>
          </a:prstGeom>
          <a:solidFill>
            <a:srgbClr val="F2F1EC"/>
          </a:solidFill>
          <a:ln w="15875">
            <a:solidFill>
              <a:srgbClr val="2E5247"/>
            </a:solidFill>
            <a:prstDash val="solid"/>
          </a:ln>
        </p:spPr>
      </p:sp>
      <p:sp>
        <p:nvSpPr>
          <p:cNvPr id="10" name="Text 8"/>
          <p:cNvSpPr/>
          <p:nvPr/>
        </p:nvSpPr>
        <p:spPr>
          <a:xfrm>
            <a:off x="5166360" y="3691890"/>
            <a:ext cx="2834640" cy="4572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The knowledge</a:t>
            </a:r>
            <a:endParaRPr lang="en-US" sz="1250" dirty="0"/>
          </a:p>
        </p:txBody>
      </p:sp>
      <p:sp>
        <p:nvSpPr>
          <p:cNvPr id="11" name="Text 9"/>
          <p:cNvSpPr/>
          <p:nvPr/>
        </p:nvSpPr>
        <p:spPr>
          <a:xfrm>
            <a:off x="5175504" y="4171950"/>
            <a:ext cx="2816352" cy="354330"/>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rules for combining them</a:t>
            </a:r>
            <a:endParaRPr lang="en-US" sz="900" dirty="0"/>
          </a:p>
        </p:txBody>
      </p:sp>
      <p:sp>
        <p:nvSpPr>
          <p:cNvPr id="12" name="Shape 10"/>
          <p:cNvSpPr/>
          <p:nvPr/>
        </p:nvSpPr>
        <p:spPr>
          <a:xfrm>
            <a:off x="8183880" y="4091940"/>
            <a:ext cx="822960" cy="0"/>
          </a:xfrm>
          <a:prstGeom prst="line">
            <a:avLst/>
          </a:prstGeom>
          <a:noFill/>
          <a:ln w="19050">
            <a:solidFill>
              <a:srgbClr val="2E5247"/>
            </a:solidFill>
            <a:prstDash val="solid"/>
            <a:tailEnd type="triangle"/>
          </a:ln>
        </p:spPr>
      </p:sp>
      <p:sp>
        <p:nvSpPr>
          <p:cNvPr id="13" name="Shape 11"/>
          <p:cNvSpPr/>
          <p:nvPr/>
        </p:nvSpPr>
        <p:spPr>
          <a:xfrm>
            <a:off x="9098280" y="3520440"/>
            <a:ext cx="2194560" cy="1143000"/>
          </a:xfrm>
          <a:prstGeom prst="rect">
            <a:avLst/>
          </a:prstGeom>
          <a:solidFill>
            <a:srgbClr val="2E5247"/>
          </a:solidFill>
          <a:ln w="15875">
            <a:solidFill>
              <a:srgbClr val="2E5247"/>
            </a:solidFill>
            <a:prstDash val="solid"/>
          </a:ln>
        </p:spPr>
      </p:sp>
      <p:sp>
        <p:nvSpPr>
          <p:cNvPr id="14" name="Text 12"/>
          <p:cNvSpPr/>
          <p:nvPr/>
        </p:nvSpPr>
        <p:spPr>
          <a:xfrm>
            <a:off x="9134856" y="3520440"/>
            <a:ext cx="2121408" cy="11430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FoodEx2 code</a:t>
            </a:r>
            <a:endParaRPr lang="en-US" sz="1400" dirty="0"/>
          </a:p>
        </p:txBody>
      </p:sp>
      <p:sp>
        <p:nvSpPr>
          <p:cNvPr id="15" name="Text 13"/>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Figure 1.  Coding decomposes into two independent problems: obtaining the parts, and the knowledge to assemble them.</a:t>
            </a:r>
            <a:endParaRPr lang="en-US" sz="1100" dirty="0"/>
          </a:p>
        </p:txBody>
      </p:sp>
      <p:sp>
        <p:nvSpPr>
          <p:cNvPr id="16" name="Text 14"/>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03</a:t>
            </a:r>
            <a:endParaRPr lang="en-US" sz="950" dirty="0"/>
          </a:p>
        </p:txBody>
      </p:sp>
      <p:sp>
        <p:nvSpPr>
          <p:cNvPr id="17" name="Text 15"/>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§2   APPROACH</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The method, in outline</a:t>
            </a:r>
            <a:endParaRPr lang="en-US" sz="2800" dirty="0"/>
          </a:p>
        </p:txBody>
      </p:sp>
      <p:sp>
        <p:nvSpPr>
          <p:cNvPr id="4" name="Text 2"/>
          <p:cNvSpPr/>
          <p:nvPr/>
        </p:nvSpPr>
        <p:spPr>
          <a:xfrm>
            <a:off x="822960" y="1691640"/>
            <a:ext cx="10515600" cy="1371600"/>
          </a:xfrm>
          <a:prstGeom prst="rect">
            <a:avLst/>
          </a:prstGeom>
          <a:noFill/>
          <a:ln/>
        </p:spPr>
        <p:txBody>
          <a:bodyPr wrap="square" lIns="0" tIns="0" rIns="0" bIns="0" rtlCol="0" anchor="ctr"/>
          <a:lstStyle/>
          <a:p>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The parts are obtained by semantic search over the catalogue, preceded by a decomposition stage that resolves descriptions with no direct catalogue counterpart. The knowledge is obtained from a maintained wiki, compiled from the available FoodEx2 and reporting sources, from which the case prompt is generated. The model receives the candidate parts and the generated knowledge together, constructs the code, and the output is then evaluated.</a:t>
            </a:r>
            <a:endParaRPr lang="en-US" sz="1500" dirty="0"/>
          </a:p>
        </p:txBody>
      </p:sp>
      <p:sp>
        <p:nvSpPr>
          <p:cNvPr id="5" name="Text 3"/>
          <p:cNvSpPr/>
          <p:nvPr/>
        </p:nvSpPr>
        <p:spPr>
          <a:xfrm>
            <a:off x="822960" y="3383280"/>
            <a:ext cx="10058400" cy="274320"/>
          </a:xfrm>
          <a:prstGeom prst="rect">
            <a:avLst/>
          </a:prstGeom>
          <a:noFill/>
          <a:ln/>
        </p:spPr>
        <p:txBody>
          <a:bodyPr wrap="square" lIns="0" tIns="0" rIns="0" bIns="0" rtlCol="0" anchor="ctr"/>
          <a:lstStyle/>
          <a:p>
            <a:pPr indent="0" marL="0">
              <a:buNone/>
            </a:pPr>
            <a:r>
              <a:rPr lang="en-US" sz="1100" b="1" spc="150" kern="0" dirty="0">
                <a:solidFill>
                  <a:srgbClr val="9AA0A6"/>
                </a:solidFill>
                <a:latin typeface="Calibri" pitchFamily="34" charset="0"/>
                <a:ea typeface="Calibri" pitchFamily="34" charset="-122"/>
                <a:cs typeface="Calibri" pitchFamily="34" charset="-120"/>
              </a:rPr>
              <a:t>THE OBJECT TO BE CONSTRUCTED</a:t>
            </a:r>
            <a:endParaRPr lang="en-US" sz="1100" dirty="0"/>
          </a:p>
        </p:txBody>
      </p:sp>
      <p:sp>
        <p:nvSpPr>
          <p:cNvPr id="6" name="Shape 4"/>
          <p:cNvSpPr/>
          <p:nvPr/>
        </p:nvSpPr>
        <p:spPr>
          <a:xfrm>
            <a:off x="822960" y="3749040"/>
            <a:ext cx="10561320" cy="1051560"/>
          </a:xfrm>
          <a:prstGeom prst="rect">
            <a:avLst/>
          </a:prstGeom>
          <a:solidFill>
            <a:srgbClr val="F2F1EC"/>
          </a:solidFill>
          <a:ln w="12700">
            <a:solidFill>
              <a:srgbClr val="E4E2DC"/>
            </a:solidFill>
            <a:prstDash val="solid"/>
          </a:ln>
        </p:spPr>
      </p:sp>
      <p:sp>
        <p:nvSpPr>
          <p:cNvPr id="7" name="Text 5"/>
          <p:cNvSpPr/>
          <p:nvPr/>
        </p:nvSpPr>
        <p:spPr>
          <a:xfrm>
            <a:off x="822960" y="3749040"/>
            <a:ext cx="10561320" cy="1051560"/>
          </a:xfrm>
          <a:prstGeom prst="rect">
            <a:avLst/>
          </a:prstGeom>
          <a:noFill/>
          <a:ln/>
        </p:spPr>
        <p:txBody>
          <a:bodyPr wrap="square" lIns="0" tIns="0" rIns="0" bIns="0" rtlCol="0" anchor="ctr"/>
          <a:lstStyle/>
          <a:p>
            <a:pPr algn="ctr" indent="0" marL="0">
              <a:buNone/>
            </a:pPr>
            <a:r>
              <a:rPr lang="en-US" sz="2200" b="1" dirty="0">
                <a:solidFill>
                  <a:srgbClr val="2E5247"/>
                </a:solidFill>
                <a:latin typeface="Consolas" pitchFamily="34" charset="0"/>
                <a:ea typeface="Consolas" pitchFamily="34" charset="-122"/>
                <a:cs typeface="Consolas" pitchFamily="34" charset="-120"/>
              </a:rPr>
              <a:t>[ base term ]</a:t>
            </a:r>
            <a:pPr algn="ctr" indent="0" marL="0">
              <a:buNone/>
            </a:pPr>
            <a:r>
              <a:rPr lang="en-US" sz="2200" dirty="0">
                <a:solidFill>
                  <a:srgbClr val="9AA0A6"/>
                </a:solidFill>
                <a:latin typeface="Consolas" pitchFamily="34" charset="0"/>
                <a:ea typeface="Consolas" pitchFamily="34" charset="-122"/>
                <a:cs typeface="Consolas" pitchFamily="34" charset="-120"/>
              </a:rPr>
              <a:t>  #  </a:t>
            </a:r>
            <a:pPr algn="ctr" indent="0" marL="0">
              <a:buNone/>
            </a:pPr>
            <a:r>
              <a:rPr lang="en-US" sz="2200" dirty="0">
                <a:solidFill>
                  <a:srgbClr val="1F2933"/>
                </a:solidFill>
                <a:latin typeface="Consolas" pitchFamily="34" charset="0"/>
                <a:ea typeface="Consolas" pitchFamily="34" charset="-122"/>
                <a:cs typeface="Consolas" pitchFamily="34" charset="-120"/>
              </a:rPr>
              <a:t>[ facet ]</a:t>
            </a:r>
            <a:pPr algn="ctr" indent="0" marL="0">
              <a:buNone/>
            </a:pPr>
            <a:r>
              <a:rPr lang="en-US" sz="2200" dirty="0">
                <a:solidFill>
                  <a:srgbClr val="9AA0A6"/>
                </a:solidFill>
                <a:latin typeface="Consolas" pitchFamily="34" charset="0"/>
                <a:ea typeface="Consolas" pitchFamily="34" charset="-122"/>
                <a:cs typeface="Consolas" pitchFamily="34" charset="-120"/>
              </a:rPr>
              <a:t>  $  </a:t>
            </a:r>
            <a:pPr algn="ctr" indent="0" marL="0">
              <a:buNone/>
            </a:pPr>
            <a:r>
              <a:rPr lang="en-US" sz="2200" dirty="0">
                <a:solidFill>
                  <a:srgbClr val="1F2933"/>
                </a:solidFill>
                <a:latin typeface="Consolas" pitchFamily="34" charset="0"/>
                <a:ea typeface="Consolas" pitchFamily="34" charset="-122"/>
                <a:cs typeface="Consolas" pitchFamily="34" charset="-120"/>
              </a:rPr>
              <a:t>[ facet ]</a:t>
            </a:r>
            <a:pPr algn="ctr" indent="0" marL="0">
              <a:buNone/>
            </a:pPr>
            <a:r>
              <a:rPr lang="en-US" sz="2200" dirty="0">
                <a:solidFill>
                  <a:srgbClr val="9AA0A6"/>
                </a:solidFill>
                <a:latin typeface="Consolas" pitchFamily="34" charset="0"/>
                <a:ea typeface="Consolas" pitchFamily="34" charset="-122"/>
                <a:cs typeface="Consolas" pitchFamily="34" charset="-120"/>
              </a:rPr>
              <a:t>  $  …</a:t>
            </a:r>
            <a:endParaRPr lang="en-US" sz="2200" dirty="0"/>
          </a:p>
        </p:txBody>
      </p:sp>
      <p:sp>
        <p:nvSpPr>
          <p:cNvPr id="8" name="Text 6"/>
          <p:cNvSpPr/>
          <p:nvPr/>
        </p:nvSpPr>
        <p:spPr>
          <a:xfrm>
            <a:off x="822960" y="4892040"/>
            <a:ext cx="10561320" cy="320040"/>
          </a:xfrm>
          <a:prstGeom prst="rect">
            <a:avLst/>
          </a:prstGeom>
          <a:noFill/>
          <a:ln/>
        </p:spPr>
        <p:txBody>
          <a:bodyPr wrap="square" lIns="0" tIns="0" rIns="0" bIns="0" rtlCol="0" anchor="ctr"/>
          <a:lstStyle/>
          <a:p>
            <a:pPr algn="ctr" indent="0" marL="0">
              <a:buNone/>
            </a:pPr>
            <a:r>
              <a:rPr lang="en-US" sz="1200" i="1" dirty="0">
                <a:solidFill>
                  <a:srgbClr val="9AA0A6"/>
                </a:solidFill>
                <a:latin typeface="Calibri" pitchFamily="34" charset="0"/>
                <a:ea typeface="Calibri" pitchFamily="34" charset="-122"/>
                <a:cs typeface="Calibri" pitchFamily="34" charset="-120"/>
              </a:rPr>
              <a:t>one base term, qualified by an ordered, rule-governed set of facets</a:t>
            </a:r>
            <a:endParaRPr lang="en-US" sz="1200" dirty="0"/>
          </a:p>
        </p:txBody>
      </p:sp>
      <p:sp>
        <p:nvSpPr>
          <p:cNvPr id="9" name="Text 7"/>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04</a:t>
            </a:r>
            <a:endParaRPr lang="en-US" sz="950" dirty="0"/>
          </a:p>
        </p:txBody>
      </p:sp>
      <p:sp>
        <p:nvSpPr>
          <p:cNvPr id="10" name="Text 8"/>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§3   PART ACQUISITION</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Semantic retrieval over the catalogue</a:t>
            </a:r>
            <a:endParaRPr lang="en-US" sz="2800" dirty="0"/>
          </a:p>
        </p:txBody>
      </p:sp>
      <p:sp>
        <p:nvSpPr>
          <p:cNvPr id="4" name="Text 2"/>
          <p:cNvSpPr/>
          <p:nvPr/>
        </p:nvSpPr>
        <p:spPr>
          <a:xfrm>
            <a:off x="822960" y="1691640"/>
            <a:ext cx="10515600" cy="822960"/>
          </a:xfrm>
          <a:prstGeom prst="rect">
            <a:avLst/>
          </a:prstGeom>
          <a:noFill/>
          <a:ln/>
        </p:spPr>
        <p:txBody>
          <a:bodyPr wrap="square" lIns="0" tIns="0" rIns="0" bIns="0" rtlCol="0" anchor="ctr"/>
          <a:lstStyle/>
          <a:p>
            <a:pPr indent="0" marL="0">
              <a:lnSpc>
                <a:spcPct val="122000"/>
              </a:lnSpc>
              <a:buNone/>
            </a:pPr>
            <a:r>
              <a:rPr lang="en-US" sz="1450" dirty="0">
                <a:solidFill>
                  <a:srgbClr val="434C54"/>
                </a:solidFill>
                <a:latin typeface="Calibri" pitchFamily="34" charset="0"/>
                <a:ea typeface="Calibri" pitchFamily="34" charset="-122"/>
                <a:cs typeface="Calibri" pitchFamily="34" charset="-120"/>
              </a:rPr>
              <a:t>The catalogue is embedded and held in a vector store (Qdrant). A query is matched by semantic similarity rather than lexical equality, so terms whose wording differs from the query are still retrieved as candidates.</a:t>
            </a:r>
            <a:endParaRPr lang="en-US" sz="1450" dirty="0"/>
          </a:p>
        </p:txBody>
      </p:sp>
      <p:sp>
        <p:nvSpPr>
          <p:cNvPr id="5" name="Text 3"/>
          <p:cNvSpPr/>
          <p:nvPr/>
        </p:nvSpPr>
        <p:spPr>
          <a:xfrm>
            <a:off x="1188720" y="2697480"/>
            <a:ext cx="4572000" cy="274320"/>
          </a:xfrm>
          <a:prstGeom prst="rect">
            <a:avLst/>
          </a:prstGeom>
          <a:noFill/>
          <a:ln/>
        </p:spPr>
        <p:txBody>
          <a:bodyPr wrap="square" lIns="0" tIns="0" rIns="0" bIns="0" rtlCol="0" anchor="ctr"/>
          <a:lstStyle/>
          <a:p>
            <a:pPr indent="0" marL="0">
              <a:buNone/>
            </a:pPr>
            <a:r>
              <a:rPr lang="en-US" sz="950" b="1" spc="100" kern="0" dirty="0">
                <a:solidFill>
                  <a:srgbClr val="9AA0A6"/>
                </a:solidFill>
                <a:latin typeface="Calibri" pitchFamily="34" charset="0"/>
                <a:ea typeface="Calibri" pitchFamily="34" charset="-122"/>
                <a:cs typeface="Calibri" pitchFamily="34" charset="-120"/>
              </a:rPr>
              <a:t>INDEXING  (offline)</a:t>
            </a:r>
            <a:endParaRPr lang="en-US" sz="950" dirty="0"/>
          </a:p>
        </p:txBody>
      </p:sp>
      <p:sp>
        <p:nvSpPr>
          <p:cNvPr id="6" name="Shape 4"/>
          <p:cNvSpPr/>
          <p:nvPr/>
        </p:nvSpPr>
        <p:spPr>
          <a:xfrm>
            <a:off x="1307592" y="2944368"/>
            <a:ext cx="1645920" cy="914400"/>
          </a:xfrm>
          <a:prstGeom prst="rect">
            <a:avLst/>
          </a:prstGeom>
          <a:solidFill>
            <a:srgbClr val="F2F1EC"/>
          </a:solidFill>
          <a:ln w="12700">
            <a:solidFill>
              <a:srgbClr val="2E5247"/>
            </a:solidFill>
            <a:prstDash val="solid"/>
          </a:ln>
        </p:spPr>
      </p:sp>
      <p:sp>
        <p:nvSpPr>
          <p:cNvPr id="7" name="Shape 5"/>
          <p:cNvSpPr/>
          <p:nvPr/>
        </p:nvSpPr>
        <p:spPr>
          <a:xfrm>
            <a:off x="1248156" y="3003804"/>
            <a:ext cx="1645920" cy="914400"/>
          </a:xfrm>
          <a:prstGeom prst="rect">
            <a:avLst/>
          </a:prstGeom>
          <a:solidFill>
            <a:srgbClr val="F2F1EC"/>
          </a:solidFill>
          <a:ln w="12700">
            <a:solidFill>
              <a:srgbClr val="2E5247"/>
            </a:solidFill>
            <a:prstDash val="solid"/>
          </a:ln>
        </p:spPr>
      </p:sp>
      <p:sp>
        <p:nvSpPr>
          <p:cNvPr id="8" name="Shape 6"/>
          <p:cNvSpPr/>
          <p:nvPr/>
        </p:nvSpPr>
        <p:spPr>
          <a:xfrm>
            <a:off x="1188720" y="3063240"/>
            <a:ext cx="1645920" cy="914400"/>
          </a:xfrm>
          <a:prstGeom prst="rect">
            <a:avLst/>
          </a:prstGeom>
          <a:solidFill>
            <a:srgbClr val="FCFCFA"/>
          </a:solidFill>
          <a:ln w="15875">
            <a:solidFill>
              <a:srgbClr val="2E5247"/>
            </a:solidFill>
            <a:prstDash val="solid"/>
          </a:ln>
        </p:spPr>
      </p:sp>
      <p:sp>
        <p:nvSpPr>
          <p:cNvPr id="9" name="Text 7"/>
          <p:cNvSpPr/>
          <p:nvPr/>
        </p:nvSpPr>
        <p:spPr>
          <a:xfrm>
            <a:off x="1225296" y="3063240"/>
            <a:ext cx="1572768" cy="9144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Catalogue</a:t>
            </a:r>
            <a:endParaRPr lang="en-US" sz="1250" dirty="0"/>
          </a:p>
        </p:txBody>
      </p:sp>
      <p:sp>
        <p:nvSpPr>
          <p:cNvPr id="10" name="Shape 8"/>
          <p:cNvSpPr/>
          <p:nvPr/>
        </p:nvSpPr>
        <p:spPr>
          <a:xfrm>
            <a:off x="2971800" y="3520440"/>
            <a:ext cx="457200" cy="0"/>
          </a:xfrm>
          <a:prstGeom prst="line">
            <a:avLst/>
          </a:prstGeom>
          <a:noFill/>
          <a:ln w="19050">
            <a:solidFill>
              <a:srgbClr val="2E5247"/>
            </a:solidFill>
            <a:prstDash val="solid"/>
            <a:tailEnd type="triangle"/>
          </a:ln>
        </p:spPr>
      </p:sp>
      <p:sp>
        <p:nvSpPr>
          <p:cNvPr id="11" name="Shape 9"/>
          <p:cNvSpPr/>
          <p:nvPr/>
        </p:nvSpPr>
        <p:spPr>
          <a:xfrm>
            <a:off x="3474720" y="3063240"/>
            <a:ext cx="1371600" cy="914400"/>
          </a:xfrm>
          <a:prstGeom prst="rect">
            <a:avLst/>
          </a:prstGeom>
          <a:solidFill>
            <a:srgbClr val="FCFCFA"/>
          </a:solidFill>
          <a:ln w="15875">
            <a:solidFill>
              <a:srgbClr val="2E5247"/>
            </a:solidFill>
            <a:prstDash val="solid"/>
          </a:ln>
        </p:spPr>
      </p:sp>
      <p:sp>
        <p:nvSpPr>
          <p:cNvPr id="12" name="Text 10"/>
          <p:cNvSpPr/>
          <p:nvPr/>
        </p:nvSpPr>
        <p:spPr>
          <a:xfrm>
            <a:off x="3511296" y="3063240"/>
            <a:ext cx="1298448" cy="9144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Embed</a:t>
            </a:r>
            <a:endParaRPr lang="en-US" sz="1250" dirty="0"/>
          </a:p>
        </p:txBody>
      </p:sp>
      <p:sp>
        <p:nvSpPr>
          <p:cNvPr id="13" name="Shape 11"/>
          <p:cNvSpPr/>
          <p:nvPr/>
        </p:nvSpPr>
        <p:spPr>
          <a:xfrm>
            <a:off x="4983480" y="3520440"/>
            <a:ext cx="457200" cy="0"/>
          </a:xfrm>
          <a:prstGeom prst="line">
            <a:avLst/>
          </a:prstGeom>
          <a:noFill/>
          <a:ln w="19050">
            <a:solidFill>
              <a:srgbClr val="2E5247"/>
            </a:solidFill>
            <a:prstDash val="solid"/>
            <a:tailEnd type="triangle"/>
          </a:ln>
        </p:spPr>
      </p:sp>
      <p:sp>
        <p:nvSpPr>
          <p:cNvPr id="14" name="Shape 12"/>
          <p:cNvSpPr/>
          <p:nvPr/>
        </p:nvSpPr>
        <p:spPr>
          <a:xfrm>
            <a:off x="5486400" y="3063240"/>
            <a:ext cx="1737360" cy="1005840"/>
          </a:xfrm>
          <a:prstGeom prst="rect">
            <a:avLst/>
          </a:prstGeom>
          <a:solidFill>
            <a:srgbClr val="F2F1EC"/>
          </a:solidFill>
          <a:ln w="12700">
            <a:solidFill>
              <a:srgbClr val="F2F1EC"/>
            </a:solidFill>
            <a:prstDash val="solid"/>
          </a:ln>
        </p:spPr>
      </p:sp>
      <p:sp>
        <p:nvSpPr>
          <p:cNvPr id="15" name="Shape 13"/>
          <p:cNvSpPr/>
          <p:nvPr/>
        </p:nvSpPr>
        <p:spPr>
          <a:xfrm>
            <a:off x="5486400" y="3063240"/>
            <a:ext cx="0" cy="1005840"/>
          </a:xfrm>
          <a:prstGeom prst="line">
            <a:avLst/>
          </a:prstGeom>
          <a:noFill/>
          <a:ln w="15875">
            <a:solidFill>
              <a:srgbClr val="2E5247"/>
            </a:solidFill>
            <a:prstDash val="solid"/>
          </a:ln>
        </p:spPr>
      </p:sp>
      <p:sp>
        <p:nvSpPr>
          <p:cNvPr id="16" name="Shape 14"/>
          <p:cNvSpPr/>
          <p:nvPr/>
        </p:nvSpPr>
        <p:spPr>
          <a:xfrm>
            <a:off x="7223760" y="3063240"/>
            <a:ext cx="0" cy="1005840"/>
          </a:xfrm>
          <a:prstGeom prst="line">
            <a:avLst/>
          </a:prstGeom>
          <a:noFill/>
          <a:ln w="15875">
            <a:solidFill>
              <a:srgbClr val="2E5247"/>
            </a:solidFill>
            <a:prstDash val="solid"/>
          </a:ln>
        </p:spPr>
      </p:sp>
      <p:sp>
        <p:nvSpPr>
          <p:cNvPr id="17" name="Shape 15"/>
          <p:cNvSpPr/>
          <p:nvPr/>
        </p:nvSpPr>
        <p:spPr>
          <a:xfrm>
            <a:off x="5486400" y="3977640"/>
            <a:ext cx="1737360" cy="182880"/>
          </a:xfrm>
          <a:prstGeom prst="ellipse">
            <a:avLst/>
          </a:prstGeom>
          <a:solidFill>
            <a:srgbClr val="F2F1EC"/>
          </a:solidFill>
          <a:ln w="15875">
            <a:solidFill>
              <a:srgbClr val="2E5247"/>
            </a:solidFill>
            <a:prstDash val="solid"/>
          </a:ln>
        </p:spPr>
      </p:sp>
      <p:sp>
        <p:nvSpPr>
          <p:cNvPr id="18" name="Shape 16"/>
          <p:cNvSpPr/>
          <p:nvPr/>
        </p:nvSpPr>
        <p:spPr>
          <a:xfrm>
            <a:off x="5486400" y="2971800"/>
            <a:ext cx="1737360" cy="182880"/>
          </a:xfrm>
          <a:prstGeom prst="ellipse">
            <a:avLst/>
          </a:prstGeom>
          <a:solidFill>
            <a:srgbClr val="F2F1EC"/>
          </a:solidFill>
          <a:ln w="15875">
            <a:solidFill>
              <a:srgbClr val="2E5247"/>
            </a:solidFill>
            <a:prstDash val="solid"/>
          </a:ln>
        </p:spPr>
      </p:sp>
      <p:sp>
        <p:nvSpPr>
          <p:cNvPr id="19" name="Text 17"/>
          <p:cNvSpPr/>
          <p:nvPr/>
        </p:nvSpPr>
        <p:spPr>
          <a:xfrm>
            <a:off x="5486400" y="3099816"/>
            <a:ext cx="1737360" cy="877824"/>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Vector store</a:t>
            </a:r>
            <a:endParaRPr lang="en-US" sz="1250" dirty="0"/>
          </a:p>
        </p:txBody>
      </p:sp>
      <p:sp>
        <p:nvSpPr>
          <p:cNvPr id="20" name="Text 18"/>
          <p:cNvSpPr/>
          <p:nvPr/>
        </p:nvSpPr>
        <p:spPr>
          <a:xfrm>
            <a:off x="1188720" y="4572000"/>
            <a:ext cx="4572000" cy="274320"/>
          </a:xfrm>
          <a:prstGeom prst="rect">
            <a:avLst/>
          </a:prstGeom>
          <a:noFill/>
          <a:ln/>
        </p:spPr>
        <p:txBody>
          <a:bodyPr wrap="square" lIns="0" tIns="0" rIns="0" bIns="0" rtlCol="0" anchor="ctr"/>
          <a:lstStyle/>
          <a:p>
            <a:pPr indent="0" marL="0">
              <a:buNone/>
            </a:pPr>
            <a:r>
              <a:rPr lang="en-US" sz="950" b="1" spc="100" kern="0" dirty="0">
                <a:solidFill>
                  <a:srgbClr val="9AA0A6"/>
                </a:solidFill>
                <a:latin typeface="Calibri" pitchFamily="34" charset="0"/>
                <a:ea typeface="Calibri" pitchFamily="34" charset="-122"/>
                <a:cs typeface="Calibri" pitchFamily="34" charset="-120"/>
              </a:rPr>
              <a:t>QUERY TIME</a:t>
            </a:r>
            <a:endParaRPr lang="en-US" sz="950" dirty="0"/>
          </a:p>
        </p:txBody>
      </p:sp>
      <p:sp>
        <p:nvSpPr>
          <p:cNvPr id="21" name="Shape 19"/>
          <p:cNvSpPr/>
          <p:nvPr/>
        </p:nvSpPr>
        <p:spPr>
          <a:xfrm>
            <a:off x="1188720" y="4892040"/>
            <a:ext cx="1645920" cy="914400"/>
          </a:xfrm>
          <a:prstGeom prst="rect">
            <a:avLst/>
          </a:prstGeom>
          <a:solidFill>
            <a:srgbClr val="FCFCFA"/>
          </a:solidFill>
          <a:ln w="15875">
            <a:solidFill>
              <a:srgbClr val="2E5247"/>
            </a:solidFill>
            <a:prstDash val="solid"/>
          </a:ln>
        </p:spPr>
      </p:sp>
      <p:sp>
        <p:nvSpPr>
          <p:cNvPr id="22" name="Text 20"/>
          <p:cNvSpPr/>
          <p:nvPr/>
        </p:nvSpPr>
        <p:spPr>
          <a:xfrm>
            <a:off x="1225296" y="4892040"/>
            <a:ext cx="1572768" cy="9144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Query</a:t>
            </a:r>
            <a:endParaRPr lang="en-US" sz="1250" dirty="0"/>
          </a:p>
        </p:txBody>
      </p:sp>
      <p:sp>
        <p:nvSpPr>
          <p:cNvPr id="23" name="Shape 21"/>
          <p:cNvSpPr/>
          <p:nvPr/>
        </p:nvSpPr>
        <p:spPr>
          <a:xfrm>
            <a:off x="2971800" y="5349240"/>
            <a:ext cx="2103120" cy="0"/>
          </a:xfrm>
          <a:prstGeom prst="line">
            <a:avLst/>
          </a:prstGeom>
          <a:noFill/>
          <a:ln w="19050">
            <a:solidFill>
              <a:srgbClr val="2E5247"/>
            </a:solidFill>
            <a:prstDash val="solid"/>
            <a:tailEnd type="triangle"/>
          </a:ln>
        </p:spPr>
      </p:sp>
      <p:sp>
        <p:nvSpPr>
          <p:cNvPr id="24" name="Shape 22"/>
          <p:cNvSpPr/>
          <p:nvPr/>
        </p:nvSpPr>
        <p:spPr>
          <a:xfrm>
            <a:off x="5120640" y="4892040"/>
            <a:ext cx="1737360" cy="914400"/>
          </a:xfrm>
          <a:prstGeom prst="rect">
            <a:avLst/>
          </a:prstGeom>
          <a:solidFill>
            <a:srgbClr val="FCFCFA"/>
          </a:solidFill>
          <a:ln w="15875">
            <a:solidFill>
              <a:srgbClr val="2E5247"/>
            </a:solidFill>
            <a:prstDash val="solid"/>
          </a:ln>
        </p:spPr>
      </p:sp>
      <p:sp>
        <p:nvSpPr>
          <p:cNvPr id="25" name="Text 23"/>
          <p:cNvSpPr/>
          <p:nvPr/>
        </p:nvSpPr>
        <p:spPr>
          <a:xfrm>
            <a:off x="5157216" y="4892040"/>
            <a:ext cx="1664208" cy="9144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Vector search</a:t>
            </a:r>
            <a:endParaRPr lang="en-US" sz="1250" dirty="0"/>
          </a:p>
        </p:txBody>
      </p:sp>
      <p:sp>
        <p:nvSpPr>
          <p:cNvPr id="26" name="Shape 24"/>
          <p:cNvSpPr/>
          <p:nvPr/>
        </p:nvSpPr>
        <p:spPr>
          <a:xfrm>
            <a:off x="6355080" y="4251960"/>
            <a:ext cx="0" cy="594360"/>
          </a:xfrm>
          <a:prstGeom prst="line">
            <a:avLst/>
          </a:prstGeom>
          <a:noFill/>
          <a:ln w="19050">
            <a:solidFill>
              <a:srgbClr val="2E5247"/>
            </a:solidFill>
            <a:prstDash val="solid"/>
            <a:tailEnd type="triangle"/>
          </a:ln>
        </p:spPr>
      </p:sp>
      <p:sp>
        <p:nvSpPr>
          <p:cNvPr id="27" name="Shape 25"/>
          <p:cNvSpPr/>
          <p:nvPr/>
        </p:nvSpPr>
        <p:spPr>
          <a:xfrm>
            <a:off x="6903720" y="5349240"/>
            <a:ext cx="914400" cy="0"/>
          </a:xfrm>
          <a:prstGeom prst="line">
            <a:avLst/>
          </a:prstGeom>
          <a:noFill/>
          <a:ln w="19050">
            <a:solidFill>
              <a:srgbClr val="2E5247"/>
            </a:solidFill>
            <a:prstDash val="solid"/>
            <a:tailEnd type="triangle"/>
          </a:ln>
        </p:spPr>
      </p:sp>
      <p:sp>
        <p:nvSpPr>
          <p:cNvPr id="28" name="Shape 26"/>
          <p:cNvSpPr/>
          <p:nvPr/>
        </p:nvSpPr>
        <p:spPr>
          <a:xfrm>
            <a:off x="7863840" y="4892040"/>
            <a:ext cx="2286000" cy="914400"/>
          </a:xfrm>
          <a:prstGeom prst="rect">
            <a:avLst/>
          </a:prstGeom>
          <a:solidFill>
            <a:srgbClr val="F2F1EC"/>
          </a:solidFill>
          <a:ln w="15875">
            <a:solidFill>
              <a:srgbClr val="2E5247"/>
            </a:solidFill>
            <a:prstDash val="solid"/>
          </a:ln>
        </p:spPr>
      </p:sp>
      <p:sp>
        <p:nvSpPr>
          <p:cNvPr id="29" name="Text 27"/>
          <p:cNvSpPr/>
          <p:nvPr/>
        </p:nvSpPr>
        <p:spPr>
          <a:xfrm>
            <a:off x="7900416" y="4892040"/>
            <a:ext cx="2212848" cy="91440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Candidate terms</a:t>
            </a:r>
            <a:endParaRPr lang="en-US" sz="1250" dirty="0"/>
          </a:p>
        </p:txBody>
      </p:sp>
      <p:sp>
        <p:nvSpPr>
          <p:cNvPr id="30" name="Text 28"/>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Figure 2.  Part acquisition by semantic search: the catalogue is embedded once; queries are matched against it at run time.</a:t>
            </a:r>
            <a:endParaRPr lang="en-US" sz="1100" dirty="0"/>
          </a:p>
        </p:txBody>
      </p:sp>
      <p:sp>
        <p:nvSpPr>
          <p:cNvPr id="31" name="Text 29"/>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05</a:t>
            </a:r>
            <a:endParaRPr lang="en-US" sz="950" dirty="0"/>
          </a:p>
        </p:txBody>
      </p:sp>
      <p:sp>
        <p:nvSpPr>
          <p:cNvPr id="32" name="Text 30"/>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§3   PART ACQUISITION</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Resolving a description into searchable constituents</a:t>
            </a:r>
            <a:endParaRPr lang="en-US" sz="2800" dirty="0"/>
          </a:p>
        </p:txBody>
      </p:sp>
      <p:sp>
        <p:nvSpPr>
          <p:cNvPr id="4" name="Text 2"/>
          <p:cNvSpPr/>
          <p:nvPr/>
        </p:nvSpPr>
        <p:spPr>
          <a:xfrm>
            <a:off x="822960" y="1691640"/>
            <a:ext cx="10515600" cy="1097280"/>
          </a:xfrm>
          <a:prstGeom prst="rect">
            <a:avLst/>
          </a:prstGeom>
          <a:noFill/>
          <a:ln/>
        </p:spPr>
        <p:txBody>
          <a:bodyPr wrap="square" lIns="0" tIns="0" rIns="0" bIns="0" rtlCol="0" anchor="ctr"/>
          <a:lstStyle/>
          <a:p>
            <a:pPr indent="0" marL="0">
              <a:lnSpc>
                <a:spcPct val="122000"/>
              </a:lnSpc>
              <a:buNone/>
            </a:pPr>
            <a:r>
              <a:rPr lang="en-US" sz="1450" dirty="0">
                <a:solidFill>
                  <a:srgbClr val="434C54"/>
                </a:solidFill>
                <a:latin typeface="Calibri" pitchFamily="34" charset="0"/>
                <a:ea typeface="Calibri" pitchFamily="34" charset="-122"/>
                <a:cs typeface="Calibri" pitchFamily="34" charset="-120"/>
              </a:rPr>
              <a:t>Semantic search presumes the query denotes something the catalogue represents. Colloquial or composite descriptions break that presumption: a term such as </a:t>
            </a:r>
            <a:pPr indent="0" marL="0">
              <a:lnSpc>
                <a:spcPct val="122000"/>
              </a:lnSpc>
              <a:buNone/>
            </a:pPr>
            <a:r>
              <a:rPr lang="en-US" sz="1450" i="1" dirty="0">
                <a:solidFill>
                  <a:srgbClr val="1F2933"/>
                </a:solidFill>
                <a:latin typeface="Calibri" pitchFamily="34" charset="0"/>
                <a:ea typeface="Calibri" pitchFamily="34" charset="-122"/>
                <a:cs typeface="Calibri" pitchFamily="34" charset="-120"/>
              </a:rPr>
              <a:t>“sloppy joe”</a:t>
            </a:r>
            <a:pPr indent="0" marL="0">
              <a:lnSpc>
                <a:spcPct val="122000"/>
              </a:lnSpc>
              <a:buNone/>
            </a:pPr>
            <a:r>
              <a:rPr lang="en-US" sz="1450" dirty="0">
                <a:solidFill>
                  <a:srgbClr val="434C54"/>
                </a:solidFill>
                <a:latin typeface="Calibri" pitchFamily="34" charset="0"/>
                <a:ea typeface="Calibri" pitchFamily="34" charset="-122"/>
                <a:cs typeface="Calibri" pitchFamily="34" charset="-120"/>
              </a:rPr>
              <a:t> has no catalogue counterpart and returns nothing usable. A decomposition stage is therefore placed before retrieval. It interprets the description, resolves it into constituent food concepts, and search then proceeds on those.</a:t>
            </a:r>
            <a:endParaRPr lang="en-US" sz="1450" dirty="0"/>
          </a:p>
        </p:txBody>
      </p:sp>
      <p:sp>
        <p:nvSpPr>
          <p:cNvPr id="5" name="Text 3"/>
          <p:cNvSpPr/>
          <p:nvPr/>
        </p:nvSpPr>
        <p:spPr>
          <a:xfrm>
            <a:off x="1188720" y="3063240"/>
            <a:ext cx="3657600" cy="274320"/>
          </a:xfrm>
          <a:prstGeom prst="rect">
            <a:avLst/>
          </a:prstGeom>
          <a:noFill/>
          <a:ln/>
        </p:spPr>
        <p:txBody>
          <a:bodyPr wrap="square" lIns="0" tIns="0" rIns="0" bIns="0" rtlCol="0" anchor="ctr"/>
          <a:lstStyle/>
          <a:p>
            <a:pPr indent="0" marL="0">
              <a:buNone/>
            </a:pPr>
            <a:r>
              <a:rPr lang="en-US" sz="950" b="1" spc="100" kern="0" dirty="0">
                <a:solidFill>
                  <a:srgbClr val="C9CDD1"/>
                </a:solidFill>
                <a:latin typeface="Calibri" pitchFamily="34" charset="0"/>
                <a:ea typeface="Calibri" pitchFamily="34" charset="-122"/>
                <a:cs typeface="Calibri" pitchFamily="34" charset="-120"/>
              </a:rPr>
              <a:t>DIRECT SEARCH</a:t>
            </a:r>
            <a:endParaRPr lang="en-US" sz="950" dirty="0"/>
          </a:p>
        </p:txBody>
      </p:sp>
      <p:sp>
        <p:nvSpPr>
          <p:cNvPr id="6" name="Shape 4"/>
          <p:cNvSpPr/>
          <p:nvPr/>
        </p:nvSpPr>
        <p:spPr>
          <a:xfrm>
            <a:off x="1188720" y="3383280"/>
            <a:ext cx="1828800" cy="777240"/>
          </a:xfrm>
          <a:prstGeom prst="rect">
            <a:avLst/>
          </a:prstGeom>
          <a:solidFill>
            <a:srgbClr val="FCFCFA"/>
          </a:solidFill>
          <a:ln w="15875">
            <a:solidFill>
              <a:srgbClr val="C9CDD1"/>
            </a:solidFill>
            <a:prstDash val="solid"/>
          </a:ln>
        </p:spPr>
      </p:sp>
      <p:sp>
        <p:nvSpPr>
          <p:cNvPr id="7" name="Text 5"/>
          <p:cNvSpPr/>
          <p:nvPr/>
        </p:nvSpPr>
        <p:spPr>
          <a:xfrm>
            <a:off x="1225296" y="3383280"/>
            <a:ext cx="1755648" cy="777240"/>
          </a:xfrm>
          <a:prstGeom prst="rect">
            <a:avLst/>
          </a:prstGeom>
          <a:noFill/>
          <a:ln/>
        </p:spPr>
        <p:txBody>
          <a:bodyPr wrap="square" lIns="0" tIns="0" rIns="0" bIns="0" rtlCol="0" anchor="ctr"/>
          <a:lstStyle/>
          <a:p>
            <a:pPr algn="ctr" indent="0" marL="0">
              <a:buNone/>
            </a:pPr>
            <a:r>
              <a:rPr lang="en-US" sz="1200" b="1" dirty="0">
                <a:solidFill>
                  <a:srgbClr val="9AA0A6"/>
                </a:solidFill>
                <a:latin typeface="Georgia" pitchFamily="34" charset="0"/>
                <a:ea typeface="Georgia" pitchFamily="34" charset="-122"/>
                <a:cs typeface="Georgia" pitchFamily="34" charset="-120"/>
              </a:rPr>
              <a:t>“sloppy joe”</a:t>
            </a:r>
            <a:endParaRPr lang="en-US" sz="1200" dirty="0"/>
          </a:p>
        </p:txBody>
      </p:sp>
      <p:sp>
        <p:nvSpPr>
          <p:cNvPr id="8" name="Shape 6"/>
          <p:cNvSpPr/>
          <p:nvPr/>
        </p:nvSpPr>
        <p:spPr>
          <a:xfrm>
            <a:off x="3063240" y="3767328"/>
            <a:ext cx="731520" cy="0"/>
          </a:xfrm>
          <a:prstGeom prst="line">
            <a:avLst/>
          </a:prstGeom>
          <a:noFill/>
          <a:ln w="15875">
            <a:solidFill>
              <a:srgbClr val="C9CDD1"/>
            </a:solidFill>
            <a:prstDash val="solid"/>
            <a:tailEnd type="triangle"/>
          </a:ln>
        </p:spPr>
      </p:sp>
      <p:sp>
        <p:nvSpPr>
          <p:cNvPr id="9" name="Shape 7"/>
          <p:cNvSpPr/>
          <p:nvPr/>
        </p:nvSpPr>
        <p:spPr>
          <a:xfrm>
            <a:off x="3840480" y="3383280"/>
            <a:ext cx="1737360" cy="777240"/>
          </a:xfrm>
          <a:prstGeom prst="rect">
            <a:avLst/>
          </a:prstGeom>
          <a:solidFill>
            <a:srgbClr val="FCFCFA"/>
          </a:solidFill>
          <a:ln w="15875">
            <a:solidFill>
              <a:srgbClr val="C9CDD1"/>
            </a:solidFill>
            <a:prstDash val="solid"/>
          </a:ln>
        </p:spPr>
      </p:sp>
      <p:sp>
        <p:nvSpPr>
          <p:cNvPr id="10" name="Text 8"/>
          <p:cNvSpPr/>
          <p:nvPr/>
        </p:nvSpPr>
        <p:spPr>
          <a:xfrm>
            <a:off x="3877056" y="3383280"/>
            <a:ext cx="1664208" cy="777240"/>
          </a:xfrm>
          <a:prstGeom prst="rect">
            <a:avLst/>
          </a:prstGeom>
          <a:noFill/>
          <a:ln/>
        </p:spPr>
        <p:txBody>
          <a:bodyPr wrap="square" lIns="0" tIns="0" rIns="0" bIns="0" rtlCol="0" anchor="ctr"/>
          <a:lstStyle/>
          <a:p>
            <a:pPr algn="ctr" indent="0" marL="0">
              <a:buNone/>
            </a:pPr>
            <a:r>
              <a:rPr lang="en-US" sz="1100" b="1" dirty="0">
                <a:solidFill>
                  <a:srgbClr val="9AA0A6"/>
                </a:solidFill>
                <a:latin typeface="Georgia" pitchFamily="34" charset="0"/>
                <a:ea typeface="Georgia" pitchFamily="34" charset="-122"/>
                <a:cs typeface="Georgia" pitchFamily="34" charset="-120"/>
              </a:rPr>
              <a:t>Vector search</a:t>
            </a:r>
            <a:endParaRPr lang="en-US" sz="1100" dirty="0"/>
          </a:p>
        </p:txBody>
      </p:sp>
      <p:sp>
        <p:nvSpPr>
          <p:cNvPr id="11" name="Shape 9"/>
          <p:cNvSpPr/>
          <p:nvPr/>
        </p:nvSpPr>
        <p:spPr>
          <a:xfrm>
            <a:off x="5623560" y="3767328"/>
            <a:ext cx="731520" cy="0"/>
          </a:xfrm>
          <a:prstGeom prst="line">
            <a:avLst/>
          </a:prstGeom>
          <a:noFill/>
          <a:ln w="15875">
            <a:solidFill>
              <a:srgbClr val="C9CDD1"/>
            </a:solidFill>
            <a:prstDash val="solid"/>
            <a:tailEnd type="triangle"/>
          </a:ln>
        </p:spPr>
      </p:sp>
      <p:sp>
        <p:nvSpPr>
          <p:cNvPr id="12" name="Shape 10"/>
          <p:cNvSpPr/>
          <p:nvPr/>
        </p:nvSpPr>
        <p:spPr>
          <a:xfrm>
            <a:off x="6400800" y="3383280"/>
            <a:ext cx="1828800" cy="777240"/>
          </a:xfrm>
          <a:prstGeom prst="rect">
            <a:avLst/>
          </a:prstGeom>
          <a:solidFill>
            <a:srgbClr val="FCFCFA"/>
          </a:solidFill>
          <a:ln w="15875">
            <a:solidFill>
              <a:srgbClr val="C9CDD1"/>
            </a:solidFill>
            <a:prstDash val="solid"/>
          </a:ln>
        </p:spPr>
      </p:sp>
      <p:sp>
        <p:nvSpPr>
          <p:cNvPr id="13" name="Text 11"/>
          <p:cNvSpPr/>
          <p:nvPr/>
        </p:nvSpPr>
        <p:spPr>
          <a:xfrm>
            <a:off x="6437376" y="3383280"/>
            <a:ext cx="1755648" cy="777240"/>
          </a:xfrm>
          <a:prstGeom prst="rect">
            <a:avLst/>
          </a:prstGeom>
          <a:noFill/>
          <a:ln/>
        </p:spPr>
        <p:txBody>
          <a:bodyPr wrap="square" lIns="0" tIns="0" rIns="0" bIns="0" rtlCol="0" anchor="ctr"/>
          <a:lstStyle/>
          <a:p>
            <a:pPr algn="ctr" indent="0" marL="0">
              <a:buNone/>
            </a:pPr>
            <a:r>
              <a:rPr lang="en-US" sz="1100" b="1" dirty="0">
                <a:solidFill>
                  <a:srgbClr val="9AA0A6"/>
                </a:solidFill>
                <a:latin typeface="Georgia" pitchFamily="34" charset="0"/>
                <a:ea typeface="Georgia" pitchFamily="34" charset="-122"/>
                <a:cs typeface="Georgia" pitchFamily="34" charset="-120"/>
              </a:rPr>
              <a:t>no usable match</a:t>
            </a:r>
            <a:endParaRPr lang="en-US" sz="1100" dirty="0"/>
          </a:p>
        </p:txBody>
      </p:sp>
      <p:sp>
        <p:nvSpPr>
          <p:cNvPr id="14" name="Text 12"/>
          <p:cNvSpPr/>
          <p:nvPr/>
        </p:nvSpPr>
        <p:spPr>
          <a:xfrm>
            <a:off x="1188720" y="4617720"/>
            <a:ext cx="4572000" cy="274320"/>
          </a:xfrm>
          <a:prstGeom prst="rect">
            <a:avLst/>
          </a:prstGeom>
          <a:noFill/>
          <a:ln/>
        </p:spPr>
        <p:txBody>
          <a:bodyPr wrap="square" lIns="0" tIns="0" rIns="0" bIns="0" rtlCol="0" anchor="ctr"/>
          <a:lstStyle/>
          <a:p>
            <a:pPr indent="0" marL="0">
              <a:buNone/>
            </a:pPr>
            <a:r>
              <a:rPr lang="en-US" sz="950" b="1" spc="100" kern="0" dirty="0">
                <a:solidFill>
                  <a:srgbClr val="2E5247"/>
                </a:solidFill>
                <a:latin typeface="Calibri" pitchFamily="34" charset="0"/>
                <a:ea typeface="Calibri" pitchFamily="34" charset="-122"/>
                <a:cs typeface="Calibri" pitchFamily="34" charset="-120"/>
              </a:rPr>
              <a:t>WITH DECOMPOSITION</a:t>
            </a:r>
            <a:endParaRPr lang="en-US" sz="950" dirty="0"/>
          </a:p>
        </p:txBody>
      </p:sp>
      <p:sp>
        <p:nvSpPr>
          <p:cNvPr id="15" name="Shape 13"/>
          <p:cNvSpPr/>
          <p:nvPr/>
        </p:nvSpPr>
        <p:spPr>
          <a:xfrm>
            <a:off x="1188720" y="4937760"/>
            <a:ext cx="1828800" cy="822960"/>
          </a:xfrm>
          <a:prstGeom prst="rect">
            <a:avLst/>
          </a:prstGeom>
          <a:solidFill>
            <a:srgbClr val="FCFCFA"/>
          </a:solidFill>
          <a:ln w="15875">
            <a:solidFill>
              <a:srgbClr val="2E5247"/>
            </a:solidFill>
            <a:prstDash val="solid"/>
          </a:ln>
        </p:spPr>
      </p:sp>
      <p:sp>
        <p:nvSpPr>
          <p:cNvPr id="16" name="Text 14"/>
          <p:cNvSpPr/>
          <p:nvPr/>
        </p:nvSpPr>
        <p:spPr>
          <a:xfrm>
            <a:off x="1225296" y="4937760"/>
            <a:ext cx="1755648" cy="822960"/>
          </a:xfrm>
          <a:prstGeom prst="rect">
            <a:avLst/>
          </a:prstGeom>
          <a:noFill/>
          <a:ln/>
        </p:spPr>
        <p:txBody>
          <a:bodyPr wrap="square" lIns="0" tIns="0" rIns="0" bIns="0" rtlCol="0" anchor="ctr"/>
          <a:lstStyle/>
          <a:p>
            <a:pPr algn="ctr" indent="0" marL="0">
              <a:buNone/>
            </a:pPr>
            <a:r>
              <a:rPr lang="en-US" sz="1200" b="1" dirty="0">
                <a:solidFill>
                  <a:srgbClr val="1F2933"/>
                </a:solidFill>
                <a:latin typeface="Georgia" pitchFamily="34" charset="0"/>
                <a:ea typeface="Georgia" pitchFamily="34" charset="-122"/>
                <a:cs typeface="Georgia" pitchFamily="34" charset="-120"/>
              </a:rPr>
              <a:t>“sloppy joe”</a:t>
            </a:r>
            <a:endParaRPr lang="en-US" sz="1200" dirty="0"/>
          </a:p>
        </p:txBody>
      </p:sp>
      <p:sp>
        <p:nvSpPr>
          <p:cNvPr id="17" name="Shape 15"/>
          <p:cNvSpPr/>
          <p:nvPr/>
        </p:nvSpPr>
        <p:spPr>
          <a:xfrm>
            <a:off x="3063240" y="5349240"/>
            <a:ext cx="640080" cy="0"/>
          </a:xfrm>
          <a:prstGeom prst="line">
            <a:avLst/>
          </a:prstGeom>
          <a:noFill/>
          <a:ln w="19050">
            <a:solidFill>
              <a:srgbClr val="2E5247"/>
            </a:solidFill>
            <a:prstDash val="solid"/>
            <a:tailEnd type="triangle"/>
          </a:ln>
        </p:spPr>
      </p:sp>
      <p:sp>
        <p:nvSpPr>
          <p:cNvPr id="18" name="Shape 16"/>
          <p:cNvSpPr/>
          <p:nvPr/>
        </p:nvSpPr>
        <p:spPr>
          <a:xfrm>
            <a:off x="3749040" y="4937760"/>
            <a:ext cx="1783080" cy="822960"/>
          </a:xfrm>
          <a:prstGeom prst="rect">
            <a:avLst/>
          </a:prstGeom>
          <a:solidFill>
            <a:srgbClr val="F2F1EC"/>
          </a:solidFill>
          <a:ln w="15875">
            <a:solidFill>
              <a:srgbClr val="2E5247"/>
            </a:solidFill>
            <a:prstDash val="solid"/>
          </a:ln>
        </p:spPr>
      </p:sp>
      <p:sp>
        <p:nvSpPr>
          <p:cNvPr id="19" name="Text 17"/>
          <p:cNvSpPr/>
          <p:nvPr/>
        </p:nvSpPr>
        <p:spPr>
          <a:xfrm>
            <a:off x="3794760" y="5061204"/>
            <a:ext cx="1691640" cy="329184"/>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Decompose</a:t>
            </a:r>
            <a:endParaRPr lang="en-US" sz="1250" dirty="0"/>
          </a:p>
        </p:txBody>
      </p:sp>
      <p:sp>
        <p:nvSpPr>
          <p:cNvPr id="20" name="Text 18"/>
          <p:cNvSpPr/>
          <p:nvPr/>
        </p:nvSpPr>
        <p:spPr>
          <a:xfrm>
            <a:off x="3803904" y="5406847"/>
            <a:ext cx="1673352" cy="255118"/>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interpret</a:t>
            </a:r>
            <a:endParaRPr lang="en-US" sz="900" dirty="0"/>
          </a:p>
        </p:txBody>
      </p:sp>
      <p:sp>
        <p:nvSpPr>
          <p:cNvPr id="21" name="Shape 19"/>
          <p:cNvSpPr/>
          <p:nvPr/>
        </p:nvSpPr>
        <p:spPr>
          <a:xfrm>
            <a:off x="5577840" y="5349240"/>
            <a:ext cx="640080" cy="0"/>
          </a:xfrm>
          <a:prstGeom prst="line">
            <a:avLst/>
          </a:prstGeom>
          <a:noFill/>
          <a:ln w="19050">
            <a:solidFill>
              <a:srgbClr val="2E5247"/>
            </a:solidFill>
            <a:prstDash val="solid"/>
            <a:tailEnd type="triangle"/>
          </a:ln>
        </p:spPr>
      </p:sp>
      <p:sp>
        <p:nvSpPr>
          <p:cNvPr id="22" name="Shape 20"/>
          <p:cNvSpPr/>
          <p:nvPr/>
        </p:nvSpPr>
        <p:spPr>
          <a:xfrm>
            <a:off x="6263640" y="4937760"/>
            <a:ext cx="1965960" cy="822960"/>
          </a:xfrm>
          <a:prstGeom prst="rect">
            <a:avLst/>
          </a:prstGeom>
          <a:solidFill>
            <a:srgbClr val="F2F1EC"/>
          </a:solidFill>
          <a:ln w="15875">
            <a:solidFill>
              <a:srgbClr val="2E5247"/>
            </a:solidFill>
            <a:prstDash val="solid"/>
          </a:ln>
        </p:spPr>
      </p:sp>
      <p:sp>
        <p:nvSpPr>
          <p:cNvPr id="23" name="Text 21"/>
          <p:cNvSpPr/>
          <p:nvPr/>
        </p:nvSpPr>
        <p:spPr>
          <a:xfrm>
            <a:off x="6309360" y="5061204"/>
            <a:ext cx="1874520" cy="329184"/>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Constituents</a:t>
            </a:r>
            <a:endParaRPr lang="en-US" sz="1250" dirty="0"/>
          </a:p>
        </p:txBody>
      </p:sp>
      <p:sp>
        <p:nvSpPr>
          <p:cNvPr id="24" name="Text 22"/>
          <p:cNvSpPr/>
          <p:nvPr/>
        </p:nvSpPr>
        <p:spPr>
          <a:xfrm>
            <a:off x="6318504" y="5406847"/>
            <a:ext cx="1856232" cy="255118"/>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searchable concepts</a:t>
            </a:r>
            <a:endParaRPr lang="en-US" sz="900" dirty="0"/>
          </a:p>
        </p:txBody>
      </p:sp>
      <p:sp>
        <p:nvSpPr>
          <p:cNvPr id="25" name="Shape 23"/>
          <p:cNvSpPr/>
          <p:nvPr/>
        </p:nvSpPr>
        <p:spPr>
          <a:xfrm>
            <a:off x="8275320" y="5349240"/>
            <a:ext cx="640080" cy="0"/>
          </a:xfrm>
          <a:prstGeom prst="line">
            <a:avLst/>
          </a:prstGeom>
          <a:noFill/>
          <a:ln w="19050">
            <a:solidFill>
              <a:srgbClr val="2E5247"/>
            </a:solidFill>
            <a:prstDash val="solid"/>
            <a:tailEnd type="triangle"/>
          </a:ln>
        </p:spPr>
      </p:sp>
      <p:sp>
        <p:nvSpPr>
          <p:cNvPr id="26" name="Shape 24"/>
          <p:cNvSpPr/>
          <p:nvPr/>
        </p:nvSpPr>
        <p:spPr>
          <a:xfrm>
            <a:off x="8961120" y="4937760"/>
            <a:ext cx="1783080" cy="822960"/>
          </a:xfrm>
          <a:prstGeom prst="rect">
            <a:avLst/>
          </a:prstGeom>
          <a:solidFill>
            <a:srgbClr val="FCFCFA"/>
          </a:solidFill>
          <a:ln w="15875">
            <a:solidFill>
              <a:srgbClr val="2E5247"/>
            </a:solidFill>
            <a:prstDash val="solid"/>
          </a:ln>
        </p:spPr>
      </p:sp>
      <p:sp>
        <p:nvSpPr>
          <p:cNvPr id="27" name="Text 25"/>
          <p:cNvSpPr/>
          <p:nvPr/>
        </p:nvSpPr>
        <p:spPr>
          <a:xfrm>
            <a:off x="8997696" y="4937760"/>
            <a:ext cx="1709928" cy="82296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Vector search</a:t>
            </a:r>
            <a:endParaRPr lang="en-US" sz="1250" dirty="0"/>
          </a:p>
        </p:txBody>
      </p:sp>
      <p:sp>
        <p:nvSpPr>
          <p:cNvPr id="28" name="Text 26"/>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Figure 3.  Descriptions without a catalogue counterpart are first decomposed into constituents, each of which is searchable.</a:t>
            </a:r>
            <a:endParaRPr lang="en-US" sz="1100" dirty="0"/>
          </a:p>
        </p:txBody>
      </p:sp>
      <p:sp>
        <p:nvSpPr>
          <p:cNvPr id="29" name="Text 27"/>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06</a:t>
            </a:r>
            <a:endParaRPr lang="en-US" sz="950" dirty="0"/>
          </a:p>
        </p:txBody>
      </p:sp>
      <p:sp>
        <p:nvSpPr>
          <p:cNvPr id="30" name="Text 28"/>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§4   KNOWLEDGE ACQUISITION</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From a static prompt to a maintained source</a:t>
            </a:r>
            <a:endParaRPr lang="en-US" sz="2800" dirty="0"/>
          </a:p>
        </p:txBody>
      </p:sp>
      <p:sp>
        <p:nvSpPr>
          <p:cNvPr id="4" name="Text 2"/>
          <p:cNvSpPr/>
          <p:nvPr/>
        </p:nvSpPr>
        <p:spPr>
          <a:xfrm>
            <a:off x="822960" y="1691640"/>
            <a:ext cx="10515600" cy="1371600"/>
          </a:xfrm>
          <a:prstGeom prst="rect">
            <a:avLst/>
          </a:prstGeom>
          <a:noFill/>
          <a:ln/>
        </p:spPr>
        <p:txBody>
          <a:bodyPr wrap="square" lIns="0" tIns="0" rIns="0" bIns="0" rtlCol="0" anchor="ctr"/>
          <a:lstStyle/>
          <a:p>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The rules of assembly must be conveyed to the model. The first approach encoded them in a hand-written prompt. This is tractable at small scale but does not hold. The relevant guidance, FoodEx2 rules together with domain reporting conventions, is large, dispersed across many documents, and revised over time. A static prompt is hard to keep complete, consistent and current, and it places domain knowledge inside software rather than under the domain's control.</a:t>
            </a:r>
            <a:endParaRPr lang="en-US" sz="1500" dirty="0"/>
          </a:p>
        </p:txBody>
      </p:sp>
      <p:sp>
        <p:nvSpPr>
          <p:cNvPr id="5" name="Shape 3"/>
          <p:cNvSpPr/>
          <p:nvPr/>
        </p:nvSpPr>
        <p:spPr>
          <a:xfrm>
            <a:off x="1463040" y="3886200"/>
            <a:ext cx="2377440" cy="1005840"/>
          </a:xfrm>
          <a:prstGeom prst="rect">
            <a:avLst/>
          </a:prstGeom>
          <a:solidFill>
            <a:srgbClr val="F2F1EC"/>
          </a:solidFill>
          <a:ln w="15875">
            <a:solidFill>
              <a:srgbClr val="2E5247"/>
            </a:solidFill>
            <a:prstDash val="solid"/>
          </a:ln>
        </p:spPr>
      </p:sp>
      <p:sp>
        <p:nvSpPr>
          <p:cNvPr id="6" name="Text 4"/>
          <p:cNvSpPr/>
          <p:nvPr/>
        </p:nvSpPr>
        <p:spPr>
          <a:xfrm>
            <a:off x="1499616" y="3886200"/>
            <a:ext cx="2304288" cy="100584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Hand-written prompt</a:t>
            </a:r>
            <a:endParaRPr lang="en-US" sz="1250" dirty="0"/>
          </a:p>
        </p:txBody>
      </p:sp>
      <p:sp>
        <p:nvSpPr>
          <p:cNvPr id="7" name="Shape 5"/>
          <p:cNvSpPr/>
          <p:nvPr/>
        </p:nvSpPr>
        <p:spPr>
          <a:xfrm>
            <a:off x="3886200" y="4389120"/>
            <a:ext cx="731520" cy="0"/>
          </a:xfrm>
          <a:prstGeom prst="line">
            <a:avLst/>
          </a:prstGeom>
          <a:noFill/>
          <a:ln w="19050">
            <a:solidFill>
              <a:srgbClr val="2E5247"/>
            </a:solidFill>
            <a:prstDash val="solid"/>
            <a:tailEnd type="triangle"/>
          </a:ln>
        </p:spPr>
      </p:sp>
      <p:sp>
        <p:nvSpPr>
          <p:cNvPr id="8" name="Shape 6"/>
          <p:cNvSpPr/>
          <p:nvPr/>
        </p:nvSpPr>
        <p:spPr>
          <a:xfrm>
            <a:off x="4663440" y="3886200"/>
            <a:ext cx="1645920" cy="1005840"/>
          </a:xfrm>
          <a:prstGeom prst="rect">
            <a:avLst/>
          </a:prstGeom>
          <a:solidFill>
            <a:srgbClr val="2E5247"/>
          </a:solidFill>
          <a:ln w="15875">
            <a:solidFill>
              <a:srgbClr val="2E5247"/>
            </a:solidFill>
            <a:prstDash val="solid"/>
          </a:ln>
        </p:spPr>
      </p:sp>
      <p:sp>
        <p:nvSpPr>
          <p:cNvPr id="9" name="Text 7"/>
          <p:cNvSpPr/>
          <p:nvPr/>
        </p:nvSpPr>
        <p:spPr>
          <a:xfrm>
            <a:off x="4700016" y="3886200"/>
            <a:ext cx="1572768"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LLM</a:t>
            </a:r>
            <a:endParaRPr lang="en-US" sz="1400" dirty="0"/>
          </a:p>
        </p:txBody>
      </p:sp>
      <p:sp>
        <p:nvSpPr>
          <p:cNvPr id="10" name="Shape 8"/>
          <p:cNvSpPr/>
          <p:nvPr/>
        </p:nvSpPr>
        <p:spPr>
          <a:xfrm>
            <a:off x="6766560" y="3886200"/>
            <a:ext cx="0" cy="1005840"/>
          </a:xfrm>
          <a:prstGeom prst="line">
            <a:avLst/>
          </a:prstGeom>
          <a:noFill/>
          <a:ln w="12700">
            <a:solidFill>
              <a:srgbClr val="E4E2DC"/>
            </a:solidFill>
            <a:prstDash val="solid"/>
          </a:ln>
        </p:spPr>
      </p:sp>
      <p:sp>
        <p:nvSpPr>
          <p:cNvPr id="11" name="Text 9"/>
          <p:cNvSpPr/>
          <p:nvPr/>
        </p:nvSpPr>
        <p:spPr>
          <a:xfrm>
            <a:off x="7040880" y="3840480"/>
            <a:ext cx="3657600" cy="320040"/>
          </a:xfrm>
          <a:prstGeom prst="rect">
            <a:avLst/>
          </a:prstGeom>
          <a:noFill/>
          <a:ln/>
        </p:spPr>
        <p:txBody>
          <a:bodyPr wrap="square" lIns="0" tIns="0" rIns="0" bIns="0" rtlCol="0" anchor="ctr"/>
          <a:lstStyle/>
          <a:p>
            <a:pPr indent="0" marL="0">
              <a:buNone/>
            </a:pPr>
            <a:r>
              <a:rPr lang="en-US" sz="1300" b="1" dirty="0">
                <a:solidFill>
                  <a:srgbClr val="1F2933"/>
                </a:solidFill>
                <a:latin typeface="Georgia" pitchFamily="34" charset="0"/>
                <a:ea typeface="Georgia" pitchFamily="34" charset="-122"/>
                <a:cs typeface="Georgia" pitchFamily="34" charset="-120"/>
              </a:rPr>
              <a:t>Limits</a:t>
            </a:r>
            <a:endParaRPr lang="en-US" sz="1300" dirty="0"/>
          </a:p>
        </p:txBody>
      </p:sp>
      <p:sp>
        <p:nvSpPr>
          <p:cNvPr id="12" name="Text 10"/>
          <p:cNvSpPr/>
          <p:nvPr/>
        </p:nvSpPr>
        <p:spPr>
          <a:xfrm>
            <a:off x="7040880" y="4114800"/>
            <a:ext cx="4297680" cy="8686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34C54"/>
                </a:solidFill>
                <a:latin typeface="Calibri" pitchFamily="34" charset="0"/>
                <a:ea typeface="Calibri" pitchFamily="34" charset="-122"/>
                <a:cs typeface="Calibri" pitchFamily="34" charset="-120"/>
              </a:rPr>
              <a:t>coverage of dispersed guidance</a:t>
            </a:r>
            <a:endParaRPr lang="en-US" sz="1150" dirty="0"/>
          </a:p>
          <a:p>
            <a:pPr marL="342900" indent="-342900">
              <a:spcAft>
                <a:spcPts val="700"/>
              </a:spcAft>
              <a:buSzPct val="100000"/>
              <a:buChar char="•"/>
            </a:pPr>
            <a:r>
              <a:rPr lang="en-US" sz="1150" dirty="0">
                <a:solidFill>
                  <a:srgbClr val="434C54"/>
                </a:solidFill>
                <a:latin typeface="Calibri" pitchFamily="34" charset="0"/>
                <a:ea typeface="Calibri" pitchFamily="34" charset="-122"/>
                <a:cs typeface="Calibri" pitchFamily="34" charset="-120"/>
              </a:rPr>
              <a:t>consistency as rules are revised</a:t>
            </a:r>
            <a:endParaRPr lang="en-US" sz="1150" dirty="0"/>
          </a:p>
          <a:p>
            <a:pPr marL="342900" indent="-342900">
              <a:buSzPct val="100000"/>
              <a:buChar char="•"/>
            </a:pPr>
            <a:r>
              <a:rPr lang="en-US" sz="1150" dirty="0">
                <a:solidFill>
                  <a:srgbClr val="434C54"/>
                </a:solidFill>
                <a:latin typeface="Calibri" pitchFamily="34" charset="0"/>
                <a:ea typeface="Calibri" pitchFamily="34" charset="-122"/>
                <a:cs typeface="Calibri" pitchFamily="34" charset="-120"/>
              </a:rPr>
              <a:t>knowledge buried in software</a:t>
            </a:r>
            <a:endParaRPr lang="en-US" sz="1150" dirty="0"/>
          </a:p>
        </p:txBody>
      </p:sp>
      <p:sp>
        <p:nvSpPr>
          <p:cNvPr id="13" name="Text 11"/>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A hand-authored prompt cannot scale to the full body of FoodEx2 and reporting guidance, which is why the knowledge is held in an external, maintained source.</a:t>
            </a:r>
            <a:endParaRPr lang="en-US" sz="1100" dirty="0"/>
          </a:p>
        </p:txBody>
      </p:sp>
      <p:sp>
        <p:nvSpPr>
          <p:cNvPr id="14" name="Text 12"/>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07</a:t>
            </a:r>
            <a:endParaRPr lang="en-US" sz="950" dirty="0"/>
          </a:p>
        </p:txBody>
      </p:sp>
      <p:sp>
        <p:nvSpPr>
          <p:cNvPr id="15" name="Text 13"/>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§4   KNOWLEDGE ACQUISITION</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A wiki as the knowledge substrate</a:t>
            </a:r>
            <a:endParaRPr lang="en-US" sz="2800" dirty="0"/>
          </a:p>
        </p:txBody>
      </p:sp>
      <p:sp>
        <p:nvSpPr>
          <p:cNvPr id="4" name="Text 2"/>
          <p:cNvSpPr/>
          <p:nvPr/>
        </p:nvSpPr>
        <p:spPr>
          <a:xfrm>
            <a:off x="822960" y="1691640"/>
            <a:ext cx="10515600" cy="1188720"/>
          </a:xfrm>
          <a:prstGeom prst="rect">
            <a:avLst/>
          </a:prstGeom>
          <a:noFill/>
          <a:ln/>
        </p:spPr>
        <p:txBody>
          <a:bodyPr wrap="square" lIns="0" tIns="0" rIns="0" bIns="0" rtlCol="0" anchor="ctr"/>
          <a:lstStyle/>
          <a:p>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The adopted approach compiles the available sources into a maintained wiki and generates the case prompt from it. The wiki holds the durable knowledge; the prompt is only derived from it for each case. Sources remain immutable, rules are compiled into concise interlinked pages, and the knowledge resides in one inspectable, domain-owned substrate.</a:t>
            </a:r>
            <a:endParaRPr lang="en-US" sz="1500" dirty="0"/>
          </a:p>
        </p:txBody>
      </p:sp>
      <p:sp>
        <p:nvSpPr>
          <p:cNvPr id="5" name="Shape 3"/>
          <p:cNvSpPr/>
          <p:nvPr/>
        </p:nvSpPr>
        <p:spPr>
          <a:xfrm>
            <a:off x="1033272" y="3493008"/>
            <a:ext cx="1691640" cy="960120"/>
          </a:xfrm>
          <a:prstGeom prst="rect">
            <a:avLst/>
          </a:prstGeom>
          <a:solidFill>
            <a:srgbClr val="F2F1EC"/>
          </a:solidFill>
          <a:ln w="12700">
            <a:solidFill>
              <a:srgbClr val="2E5247"/>
            </a:solidFill>
            <a:prstDash val="solid"/>
          </a:ln>
        </p:spPr>
      </p:sp>
      <p:sp>
        <p:nvSpPr>
          <p:cNvPr id="6" name="Shape 4"/>
          <p:cNvSpPr/>
          <p:nvPr/>
        </p:nvSpPr>
        <p:spPr>
          <a:xfrm>
            <a:off x="973836" y="3552444"/>
            <a:ext cx="1691640" cy="960120"/>
          </a:xfrm>
          <a:prstGeom prst="rect">
            <a:avLst/>
          </a:prstGeom>
          <a:solidFill>
            <a:srgbClr val="F2F1EC"/>
          </a:solidFill>
          <a:ln w="12700">
            <a:solidFill>
              <a:srgbClr val="2E5247"/>
            </a:solidFill>
            <a:prstDash val="solid"/>
          </a:ln>
        </p:spPr>
      </p:sp>
      <p:sp>
        <p:nvSpPr>
          <p:cNvPr id="7" name="Shape 5"/>
          <p:cNvSpPr/>
          <p:nvPr/>
        </p:nvSpPr>
        <p:spPr>
          <a:xfrm>
            <a:off x="914400" y="3611880"/>
            <a:ext cx="1691640" cy="960120"/>
          </a:xfrm>
          <a:prstGeom prst="rect">
            <a:avLst/>
          </a:prstGeom>
          <a:solidFill>
            <a:srgbClr val="FCFCFA"/>
          </a:solidFill>
          <a:ln w="15875">
            <a:solidFill>
              <a:srgbClr val="2E5247"/>
            </a:solidFill>
            <a:prstDash val="solid"/>
          </a:ln>
        </p:spPr>
      </p:sp>
      <p:sp>
        <p:nvSpPr>
          <p:cNvPr id="8" name="Text 6"/>
          <p:cNvSpPr/>
          <p:nvPr/>
        </p:nvSpPr>
        <p:spPr>
          <a:xfrm>
            <a:off x="950976" y="3611880"/>
            <a:ext cx="1618488" cy="96012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Sources</a:t>
            </a:r>
            <a:endParaRPr lang="en-US" sz="1250" dirty="0"/>
          </a:p>
        </p:txBody>
      </p:sp>
      <p:sp>
        <p:nvSpPr>
          <p:cNvPr id="9" name="Text 7"/>
          <p:cNvSpPr/>
          <p:nvPr/>
        </p:nvSpPr>
        <p:spPr>
          <a:xfrm>
            <a:off x="640080" y="4608576"/>
            <a:ext cx="2240280" cy="274320"/>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FoodEx2 + reporting</a:t>
            </a:r>
            <a:endParaRPr lang="en-US" sz="900" dirty="0"/>
          </a:p>
        </p:txBody>
      </p:sp>
      <p:sp>
        <p:nvSpPr>
          <p:cNvPr id="10" name="Shape 8"/>
          <p:cNvSpPr/>
          <p:nvPr/>
        </p:nvSpPr>
        <p:spPr>
          <a:xfrm>
            <a:off x="2697480" y="4091940"/>
            <a:ext cx="457200" cy="0"/>
          </a:xfrm>
          <a:prstGeom prst="line">
            <a:avLst/>
          </a:prstGeom>
          <a:noFill/>
          <a:ln w="19050">
            <a:solidFill>
              <a:srgbClr val="2E5247"/>
            </a:solidFill>
            <a:prstDash val="solid"/>
            <a:tailEnd type="triangle"/>
          </a:ln>
        </p:spPr>
      </p:sp>
      <p:sp>
        <p:nvSpPr>
          <p:cNvPr id="11" name="Shape 9"/>
          <p:cNvSpPr/>
          <p:nvPr/>
        </p:nvSpPr>
        <p:spPr>
          <a:xfrm>
            <a:off x="3200400" y="3611880"/>
            <a:ext cx="1371600" cy="960120"/>
          </a:xfrm>
          <a:prstGeom prst="rect">
            <a:avLst/>
          </a:prstGeom>
          <a:solidFill>
            <a:srgbClr val="FCFCFA"/>
          </a:solidFill>
          <a:ln w="15875">
            <a:solidFill>
              <a:srgbClr val="2E5247"/>
            </a:solidFill>
            <a:prstDash val="solid"/>
          </a:ln>
        </p:spPr>
      </p:sp>
      <p:sp>
        <p:nvSpPr>
          <p:cNvPr id="12" name="Text 10"/>
          <p:cNvSpPr/>
          <p:nvPr/>
        </p:nvSpPr>
        <p:spPr>
          <a:xfrm>
            <a:off x="3246120" y="3755898"/>
            <a:ext cx="1280160" cy="384048"/>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Compile</a:t>
            </a:r>
            <a:endParaRPr lang="en-US" sz="1250" dirty="0"/>
          </a:p>
        </p:txBody>
      </p:sp>
      <p:sp>
        <p:nvSpPr>
          <p:cNvPr id="13" name="Text 11"/>
          <p:cNvSpPr/>
          <p:nvPr/>
        </p:nvSpPr>
        <p:spPr>
          <a:xfrm>
            <a:off x="3255264" y="4159148"/>
            <a:ext cx="1261872" cy="297637"/>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&amp; maintain</a:t>
            </a:r>
            <a:endParaRPr lang="en-US" sz="900" dirty="0"/>
          </a:p>
        </p:txBody>
      </p:sp>
      <p:sp>
        <p:nvSpPr>
          <p:cNvPr id="14" name="Shape 12"/>
          <p:cNvSpPr/>
          <p:nvPr/>
        </p:nvSpPr>
        <p:spPr>
          <a:xfrm>
            <a:off x="4663440" y="4091940"/>
            <a:ext cx="457200" cy="0"/>
          </a:xfrm>
          <a:prstGeom prst="line">
            <a:avLst/>
          </a:prstGeom>
          <a:noFill/>
          <a:ln w="19050">
            <a:solidFill>
              <a:srgbClr val="2E5247"/>
            </a:solidFill>
            <a:prstDash val="solid"/>
            <a:tailEnd type="triangle"/>
          </a:ln>
        </p:spPr>
      </p:sp>
      <p:sp>
        <p:nvSpPr>
          <p:cNvPr id="15" name="Shape 13"/>
          <p:cNvSpPr/>
          <p:nvPr/>
        </p:nvSpPr>
        <p:spPr>
          <a:xfrm>
            <a:off x="5166360" y="3611880"/>
            <a:ext cx="1737360" cy="960120"/>
          </a:xfrm>
          <a:prstGeom prst="rect">
            <a:avLst/>
          </a:prstGeom>
          <a:solidFill>
            <a:srgbClr val="E5ECE8"/>
          </a:solidFill>
          <a:ln w="19050">
            <a:solidFill>
              <a:srgbClr val="2E5247"/>
            </a:solidFill>
            <a:prstDash val="solid"/>
          </a:ln>
        </p:spPr>
      </p:sp>
      <p:sp>
        <p:nvSpPr>
          <p:cNvPr id="16" name="Text 14"/>
          <p:cNvSpPr/>
          <p:nvPr/>
        </p:nvSpPr>
        <p:spPr>
          <a:xfrm>
            <a:off x="5212080" y="3755898"/>
            <a:ext cx="1645920" cy="384048"/>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Wiki</a:t>
            </a:r>
            <a:endParaRPr lang="en-US" sz="1250" dirty="0"/>
          </a:p>
        </p:txBody>
      </p:sp>
      <p:sp>
        <p:nvSpPr>
          <p:cNvPr id="17" name="Text 15"/>
          <p:cNvSpPr/>
          <p:nvPr/>
        </p:nvSpPr>
        <p:spPr>
          <a:xfrm>
            <a:off x="5221224" y="4159148"/>
            <a:ext cx="1627632" cy="297637"/>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knowledge base</a:t>
            </a:r>
            <a:endParaRPr lang="en-US" sz="900" dirty="0"/>
          </a:p>
        </p:txBody>
      </p:sp>
      <p:sp>
        <p:nvSpPr>
          <p:cNvPr id="18" name="Shape 16"/>
          <p:cNvSpPr/>
          <p:nvPr/>
        </p:nvSpPr>
        <p:spPr>
          <a:xfrm>
            <a:off x="6995160" y="4091940"/>
            <a:ext cx="457200" cy="0"/>
          </a:xfrm>
          <a:prstGeom prst="line">
            <a:avLst/>
          </a:prstGeom>
          <a:noFill/>
          <a:ln w="19050">
            <a:solidFill>
              <a:srgbClr val="2E5247"/>
            </a:solidFill>
            <a:prstDash val="solid"/>
            <a:tailEnd type="triangle"/>
          </a:ln>
        </p:spPr>
      </p:sp>
      <p:sp>
        <p:nvSpPr>
          <p:cNvPr id="19" name="Shape 17"/>
          <p:cNvSpPr/>
          <p:nvPr/>
        </p:nvSpPr>
        <p:spPr>
          <a:xfrm>
            <a:off x="7498080" y="3611880"/>
            <a:ext cx="1554480" cy="960120"/>
          </a:xfrm>
          <a:prstGeom prst="rect">
            <a:avLst/>
          </a:prstGeom>
          <a:solidFill>
            <a:srgbClr val="FCFCFA"/>
          </a:solidFill>
          <a:ln w="15875">
            <a:solidFill>
              <a:srgbClr val="2E5247"/>
            </a:solidFill>
            <a:prstDash val="solid"/>
          </a:ln>
        </p:spPr>
      </p:sp>
      <p:sp>
        <p:nvSpPr>
          <p:cNvPr id="20" name="Text 18"/>
          <p:cNvSpPr/>
          <p:nvPr/>
        </p:nvSpPr>
        <p:spPr>
          <a:xfrm>
            <a:off x="7543800" y="3755898"/>
            <a:ext cx="1463040" cy="384048"/>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Generate</a:t>
            </a:r>
            <a:endParaRPr lang="en-US" sz="1250" dirty="0"/>
          </a:p>
        </p:txBody>
      </p:sp>
      <p:sp>
        <p:nvSpPr>
          <p:cNvPr id="21" name="Text 19"/>
          <p:cNvSpPr/>
          <p:nvPr/>
        </p:nvSpPr>
        <p:spPr>
          <a:xfrm>
            <a:off x="7552944" y="4159148"/>
            <a:ext cx="1444752" cy="297637"/>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per case</a:t>
            </a:r>
            <a:endParaRPr lang="en-US" sz="900" dirty="0"/>
          </a:p>
        </p:txBody>
      </p:sp>
      <p:sp>
        <p:nvSpPr>
          <p:cNvPr id="22" name="Shape 20"/>
          <p:cNvSpPr/>
          <p:nvPr/>
        </p:nvSpPr>
        <p:spPr>
          <a:xfrm>
            <a:off x="9098280" y="4091940"/>
            <a:ext cx="457200" cy="0"/>
          </a:xfrm>
          <a:prstGeom prst="line">
            <a:avLst/>
          </a:prstGeom>
          <a:noFill/>
          <a:ln w="19050">
            <a:solidFill>
              <a:srgbClr val="2E5247"/>
            </a:solidFill>
            <a:prstDash val="solid"/>
            <a:tailEnd type="triangle"/>
          </a:ln>
        </p:spPr>
      </p:sp>
      <p:sp>
        <p:nvSpPr>
          <p:cNvPr id="23" name="Shape 21"/>
          <p:cNvSpPr/>
          <p:nvPr/>
        </p:nvSpPr>
        <p:spPr>
          <a:xfrm>
            <a:off x="9601200" y="3611880"/>
            <a:ext cx="1691640" cy="960120"/>
          </a:xfrm>
          <a:prstGeom prst="rect">
            <a:avLst/>
          </a:prstGeom>
          <a:solidFill>
            <a:srgbClr val="2E5247"/>
          </a:solidFill>
          <a:ln w="15875">
            <a:solidFill>
              <a:srgbClr val="2E5247"/>
            </a:solidFill>
            <a:prstDash val="solid"/>
          </a:ln>
        </p:spPr>
      </p:sp>
      <p:sp>
        <p:nvSpPr>
          <p:cNvPr id="24" name="Text 22"/>
          <p:cNvSpPr/>
          <p:nvPr/>
        </p:nvSpPr>
        <p:spPr>
          <a:xfrm>
            <a:off x="9637776" y="3611880"/>
            <a:ext cx="1618488"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Knowledge</a:t>
            </a:r>
            <a:endParaRPr lang="en-US" sz="1300" dirty="0"/>
          </a:p>
        </p:txBody>
      </p:sp>
      <p:sp>
        <p:nvSpPr>
          <p:cNvPr id="25" name="Text 23"/>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Figure 4.  Sources are compiled into a maintained wiki; the case prompt (the knowledge given to the model) is generated from it.</a:t>
            </a:r>
            <a:endParaRPr lang="en-US" sz="1100" dirty="0"/>
          </a:p>
        </p:txBody>
      </p:sp>
      <p:sp>
        <p:nvSpPr>
          <p:cNvPr id="26" name="Text 24"/>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08</a:t>
            </a:r>
            <a:endParaRPr lang="en-US" sz="950" dirty="0"/>
          </a:p>
        </p:txBody>
      </p:sp>
      <p:sp>
        <p:nvSpPr>
          <p:cNvPr id="27" name="Text 25"/>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§5   SYNTHESIS</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The complete architecture</a:t>
            </a:r>
            <a:endParaRPr lang="en-US" sz="2800" dirty="0"/>
          </a:p>
        </p:txBody>
      </p:sp>
      <p:sp>
        <p:nvSpPr>
          <p:cNvPr id="4" name="Shape 2"/>
          <p:cNvSpPr/>
          <p:nvPr/>
        </p:nvSpPr>
        <p:spPr>
          <a:xfrm>
            <a:off x="640080" y="2148840"/>
            <a:ext cx="6949440" cy="1325880"/>
          </a:xfrm>
          <a:prstGeom prst="rect">
            <a:avLst/>
          </a:prstGeom>
          <a:solidFill>
            <a:srgbClr val="F2F1EC"/>
          </a:solidFill>
          <a:ln w="12700">
            <a:solidFill>
              <a:srgbClr val="FCFCFA"/>
            </a:solidFill>
            <a:prstDash val="solid"/>
          </a:ln>
        </p:spPr>
      </p:sp>
      <p:sp>
        <p:nvSpPr>
          <p:cNvPr id="5" name="Shape 3"/>
          <p:cNvSpPr/>
          <p:nvPr/>
        </p:nvSpPr>
        <p:spPr>
          <a:xfrm>
            <a:off x="640080" y="3886200"/>
            <a:ext cx="6949440" cy="1325880"/>
          </a:xfrm>
          <a:prstGeom prst="rect">
            <a:avLst/>
          </a:prstGeom>
          <a:solidFill>
            <a:srgbClr val="F2F1EC"/>
          </a:solidFill>
          <a:ln w="12700">
            <a:solidFill>
              <a:srgbClr val="FCFCFA"/>
            </a:solidFill>
            <a:prstDash val="solid"/>
          </a:ln>
        </p:spPr>
      </p:sp>
      <p:sp>
        <p:nvSpPr>
          <p:cNvPr id="6" name="Text 4"/>
          <p:cNvSpPr/>
          <p:nvPr/>
        </p:nvSpPr>
        <p:spPr>
          <a:xfrm>
            <a:off x="777240" y="2240280"/>
            <a:ext cx="4572000" cy="228600"/>
          </a:xfrm>
          <a:prstGeom prst="rect">
            <a:avLst/>
          </a:prstGeom>
          <a:noFill/>
          <a:ln/>
        </p:spPr>
        <p:txBody>
          <a:bodyPr wrap="square" lIns="0" tIns="0" rIns="0" bIns="0" rtlCol="0" anchor="ctr"/>
          <a:lstStyle/>
          <a:p>
            <a:pPr indent="0" marL="0">
              <a:buNone/>
            </a:pPr>
            <a:r>
              <a:rPr lang="en-US" sz="900" b="1" spc="100" kern="0" dirty="0">
                <a:solidFill>
                  <a:srgbClr val="9AA0A6"/>
                </a:solidFill>
                <a:latin typeface="Calibri" pitchFamily="34" charset="0"/>
                <a:ea typeface="Calibri" pitchFamily="34" charset="-122"/>
                <a:cs typeface="Calibri" pitchFamily="34" charset="-120"/>
              </a:rPr>
              <a:t>PART ACQUISITION</a:t>
            </a:r>
            <a:endParaRPr lang="en-US" sz="900" dirty="0"/>
          </a:p>
        </p:txBody>
      </p:sp>
      <p:sp>
        <p:nvSpPr>
          <p:cNvPr id="7" name="Text 5"/>
          <p:cNvSpPr/>
          <p:nvPr/>
        </p:nvSpPr>
        <p:spPr>
          <a:xfrm>
            <a:off x="777240" y="3977640"/>
            <a:ext cx="4572000" cy="228600"/>
          </a:xfrm>
          <a:prstGeom prst="rect">
            <a:avLst/>
          </a:prstGeom>
          <a:noFill/>
          <a:ln/>
        </p:spPr>
        <p:txBody>
          <a:bodyPr wrap="square" lIns="0" tIns="0" rIns="0" bIns="0" rtlCol="0" anchor="ctr"/>
          <a:lstStyle/>
          <a:p>
            <a:pPr indent="0" marL="0">
              <a:buNone/>
            </a:pPr>
            <a:r>
              <a:rPr lang="en-US" sz="900" b="1" spc="100" kern="0" dirty="0">
                <a:solidFill>
                  <a:srgbClr val="9AA0A6"/>
                </a:solidFill>
                <a:latin typeface="Calibri" pitchFamily="34" charset="0"/>
                <a:ea typeface="Calibri" pitchFamily="34" charset="-122"/>
                <a:cs typeface="Calibri" pitchFamily="34" charset="-120"/>
              </a:rPr>
              <a:t>KNOWLEDGE ACQUISITION</a:t>
            </a:r>
            <a:endParaRPr lang="en-US" sz="900" dirty="0"/>
          </a:p>
        </p:txBody>
      </p:sp>
      <p:sp>
        <p:nvSpPr>
          <p:cNvPr id="8" name="Shape 6"/>
          <p:cNvSpPr/>
          <p:nvPr/>
        </p:nvSpPr>
        <p:spPr>
          <a:xfrm>
            <a:off x="822960" y="2542032"/>
            <a:ext cx="1371600" cy="749808"/>
          </a:xfrm>
          <a:prstGeom prst="rect">
            <a:avLst/>
          </a:prstGeom>
          <a:solidFill>
            <a:srgbClr val="FCFCFA"/>
          </a:solidFill>
          <a:ln w="15875">
            <a:solidFill>
              <a:srgbClr val="2E5247"/>
            </a:solidFill>
            <a:prstDash val="solid"/>
          </a:ln>
        </p:spPr>
      </p:sp>
      <p:sp>
        <p:nvSpPr>
          <p:cNvPr id="9" name="Text 7"/>
          <p:cNvSpPr/>
          <p:nvPr/>
        </p:nvSpPr>
        <p:spPr>
          <a:xfrm>
            <a:off x="859536" y="2542032"/>
            <a:ext cx="129844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Query</a:t>
            </a:r>
            <a:endParaRPr lang="en-US" sz="1150" dirty="0"/>
          </a:p>
        </p:txBody>
      </p:sp>
      <p:sp>
        <p:nvSpPr>
          <p:cNvPr id="10" name="Shape 8"/>
          <p:cNvSpPr/>
          <p:nvPr/>
        </p:nvSpPr>
        <p:spPr>
          <a:xfrm>
            <a:off x="2212848" y="2916936"/>
            <a:ext cx="274320" cy="0"/>
          </a:xfrm>
          <a:prstGeom prst="line">
            <a:avLst/>
          </a:prstGeom>
          <a:noFill/>
          <a:ln w="19050">
            <a:solidFill>
              <a:srgbClr val="2E5247"/>
            </a:solidFill>
            <a:prstDash val="solid"/>
            <a:tailEnd type="triangle"/>
          </a:ln>
        </p:spPr>
      </p:sp>
      <p:sp>
        <p:nvSpPr>
          <p:cNvPr id="11" name="Shape 9"/>
          <p:cNvSpPr/>
          <p:nvPr/>
        </p:nvSpPr>
        <p:spPr>
          <a:xfrm>
            <a:off x="2514600" y="2542032"/>
            <a:ext cx="1371600" cy="749808"/>
          </a:xfrm>
          <a:prstGeom prst="rect">
            <a:avLst/>
          </a:prstGeom>
          <a:solidFill>
            <a:srgbClr val="FCFCFA"/>
          </a:solidFill>
          <a:ln w="15875">
            <a:solidFill>
              <a:srgbClr val="2E5247"/>
            </a:solidFill>
            <a:prstDash val="solid"/>
          </a:ln>
        </p:spPr>
      </p:sp>
      <p:sp>
        <p:nvSpPr>
          <p:cNvPr id="12" name="Text 10"/>
          <p:cNvSpPr/>
          <p:nvPr/>
        </p:nvSpPr>
        <p:spPr>
          <a:xfrm>
            <a:off x="2551176" y="2542032"/>
            <a:ext cx="129844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Decompose</a:t>
            </a:r>
            <a:endParaRPr lang="en-US" sz="1150" dirty="0"/>
          </a:p>
        </p:txBody>
      </p:sp>
      <p:sp>
        <p:nvSpPr>
          <p:cNvPr id="13" name="Shape 11"/>
          <p:cNvSpPr/>
          <p:nvPr/>
        </p:nvSpPr>
        <p:spPr>
          <a:xfrm>
            <a:off x="3904488" y="2916936"/>
            <a:ext cx="274320" cy="0"/>
          </a:xfrm>
          <a:prstGeom prst="line">
            <a:avLst/>
          </a:prstGeom>
          <a:noFill/>
          <a:ln w="19050">
            <a:solidFill>
              <a:srgbClr val="2E5247"/>
            </a:solidFill>
            <a:prstDash val="solid"/>
            <a:tailEnd type="triangle"/>
          </a:ln>
        </p:spPr>
      </p:sp>
      <p:sp>
        <p:nvSpPr>
          <p:cNvPr id="14" name="Shape 12"/>
          <p:cNvSpPr/>
          <p:nvPr/>
        </p:nvSpPr>
        <p:spPr>
          <a:xfrm>
            <a:off x="4206240" y="2542032"/>
            <a:ext cx="1463040" cy="749808"/>
          </a:xfrm>
          <a:prstGeom prst="rect">
            <a:avLst/>
          </a:prstGeom>
          <a:solidFill>
            <a:srgbClr val="FCFCFA"/>
          </a:solidFill>
          <a:ln w="15875">
            <a:solidFill>
              <a:srgbClr val="2E5247"/>
            </a:solidFill>
            <a:prstDash val="solid"/>
          </a:ln>
        </p:spPr>
      </p:sp>
      <p:sp>
        <p:nvSpPr>
          <p:cNvPr id="15" name="Text 13"/>
          <p:cNvSpPr/>
          <p:nvPr/>
        </p:nvSpPr>
        <p:spPr>
          <a:xfrm>
            <a:off x="4242816" y="2542032"/>
            <a:ext cx="138988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Search</a:t>
            </a:r>
            <a:endParaRPr lang="en-US" sz="1150" dirty="0"/>
          </a:p>
        </p:txBody>
      </p:sp>
      <p:sp>
        <p:nvSpPr>
          <p:cNvPr id="16" name="Shape 14"/>
          <p:cNvSpPr/>
          <p:nvPr/>
        </p:nvSpPr>
        <p:spPr>
          <a:xfrm>
            <a:off x="5687568" y="2916936"/>
            <a:ext cx="274320" cy="0"/>
          </a:xfrm>
          <a:prstGeom prst="line">
            <a:avLst/>
          </a:prstGeom>
          <a:noFill/>
          <a:ln w="19050">
            <a:solidFill>
              <a:srgbClr val="2E5247"/>
            </a:solidFill>
            <a:prstDash val="solid"/>
            <a:tailEnd type="triangle"/>
          </a:ln>
        </p:spPr>
      </p:sp>
      <p:sp>
        <p:nvSpPr>
          <p:cNvPr id="17" name="Shape 15"/>
          <p:cNvSpPr/>
          <p:nvPr/>
        </p:nvSpPr>
        <p:spPr>
          <a:xfrm>
            <a:off x="5989320" y="2542032"/>
            <a:ext cx="1508760" cy="749808"/>
          </a:xfrm>
          <a:prstGeom prst="rect">
            <a:avLst/>
          </a:prstGeom>
          <a:solidFill>
            <a:srgbClr val="FCFCFA"/>
          </a:solidFill>
          <a:ln w="15875">
            <a:solidFill>
              <a:srgbClr val="2E5247"/>
            </a:solidFill>
            <a:prstDash val="solid"/>
          </a:ln>
        </p:spPr>
      </p:sp>
      <p:sp>
        <p:nvSpPr>
          <p:cNvPr id="18" name="Text 16"/>
          <p:cNvSpPr/>
          <p:nvPr/>
        </p:nvSpPr>
        <p:spPr>
          <a:xfrm>
            <a:off x="6025896" y="2542032"/>
            <a:ext cx="143560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Candidates</a:t>
            </a:r>
            <a:endParaRPr lang="en-US" sz="1150" dirty="0"/>
          </a:p>
        </p:txBody>
      </p:sp>
      <p:sp>
        <p:nvSpPr>
          <p:cNvPr id="19" name="Shape 17"/>
          <p:cNvSpPr/>
          <p:nvPr/>
        </p:nvSpPr>
        <p:spPr>
          <a:xfrm>
            <a:off x="822960" y="4279392"/>
            <a:ext cx="1371600" cy="749808"/>
          </a:xfrm>
          <a:prstGeom prst="rect">
            <a:avLst/>
          </a:prstGeom>
          <a:solidFill>
            <a:srgbClr val="FCFCFA"/>
          </a:solidFill>
          <a:ln w="15875">
            <a:solidFill>
              <a:srgbClr val="2E5247"/>
            </a:solidFill>
            <a:prstDash val="solid"/>
          </a:ln>
        </p:spPr>
      </p:sp>
      <p:sp>
        <p:nvSpPr>
          <p:cNvPr id="20" name="Text 18"/>
          <p:cNvSpPr/>
          <p:nvPr/>
        </p:nvSpPr>
        <p:spPr>
          <a:xfrm>
            <a:off x="859536" y="4279392"/>
            <a:ext cx="129844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Sources</a:t>
            </a:r>
            <a:endParaRPr lang="en-US" sz="1150" dirty="0"/>
          </a:p>
        </p:txBody>
      </p:sp>
      <p:sp>
        <p:nvSpPr>
          <p:cNvPr id="21" name="Shape 19"/>
          <p:cNvSpPr/>
          <p:nvPr/>
        </p:nvSpPr>
        <p:spPr>
          <a:xfrm>
            <a:off x="2212848" y="4654296"/>
            <a:ext cx="274320" cy="0"/>
          </a:xfrm>
          <a:prstGeom prst="line">
            <a:avLst/>
          </a:prstGeom>
          <a:noFill/>
          <a:ln w="19050">
            <a:solidFill>
              <a:srgbClr val="2E5247"/>
            </a:solidFill>
            <a:prstDash val="solid"/>
            <a:tailEnd type="triangle"/>
          </a:ln>
        </p:spPr>
      </p:sp>
      <p:sp>
        <p:nvSpPr>
          <p:cNvPr id="22" name="Shape 20"/>
          <p:cNvSpPr/>
          <p:nvPr/>
        </p:nvSpPr>
        <p:spPr>
          <a:xfrm>
            <a:off x="2514600" y="4279392"/>
            <a:ext cx="1371600" cy="749808"/>
          </a:xfrm>
          <a:prstGeom prst="rect">
            <a:avLst/>
          </a:prstGeom>
          <a:solidFill>
            <a:srgbClr val="E5ECE8"/>
          </a:solidFill>
          <a:ln w="15875">
            <a:solidFill>
              <a:srgbClr val="2E5247"/>
            </a:solidFill>
            <a:prstDash val="solid"/>
          </a:ln>
        </p:spPr>
      </p:sp>
      <p:sp>
        <p:nvSpPr>
          <p:cNvPr id="23" name="Text 21"/>
          <p:cNvSpPr/>
          <p:nvPr/>
        </p:nvSpPr>
        <p:spPr>
          <a:xfrm>
            <a:off x="2551176" y="4279392"/>
            <a:ext cx="129844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Wiki</a:t>
            </a:r>
            <a:endParaRPr lang="en-US" sz="1150" dirty="0"/>
          </a:p>
        </p:txBody>
      </p:sp>
      <p:sp>
        <p:nvSpPr>
          <p:cNvPr id="24" name="Shape 22"/>
          <p:cNvSpPr/>
          <p:nvPr/>
        </p:nvSpPr>
        <p:spPr>
          <a:xfrm>
            <a:off x="3904488" y="4654296"/>
            <a:ext cx="274320" cy="0"/>
          </a:xfrm>
          <a:prstGeom prst="line">
            <a:avLst/>
          </a:prstGeom>
          <a:noFill/>
          <a:ln w="19050">
            <a:solidFill>
              <a:srgbClr val="2E5247"/>
            </a:solidFill>
            <a:prstDash val="solid"/>
            <a:tailEnd type="triangle"/>
          </a:ln>
        </p:spPr>
      </p:sp>
      <p:sp>
        <p:nvSpPr>
          <p:cNvPr id="25" name="Shape 23"/>
          <p:cNvSpPr/>
          <p:nvPr/>
        </p:nvSpPr>
        <p:spPr>
          <a:xfrm>
            <a:off x="4206240" y="4279392"/>
            <a:ext cx="1463040" cy="749808"/>
          </a:xfrm>
          <a:prstGeom prst="rect">
            <a:avLst/>
          </a:prstGeom>
          <a:solidFill>
            <a:srgbClr val="FCFCFA"/>
          </a:solidFill>
          <a:ln w="15875">
            <a:solidFill>
              <a:srgbClr val="2E5247"/>
            </a:solidFill>
            <a:prstDash val="solid"/>
          </a:ln>
        </p:spPr>
      </p:sp>
      <p:sp>
        <p:nvSpPr>
          <p:cNvPr id="26" name="Text 24"/>
          <p:cNvSpPr/>
          <p:nvPr/>
        </p:nvSpPr>
        <p:spPr>
          <a:xfrm>
            <a:off x="4242816" y="4279392"/>
            <a:ext cx="138988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Generate</a:t>
            </a:r>
            <a:endParaRPr lang="en-US" sz="1150" dirty="0"/>
          </a:p>
        </p:txBody>
      </p:sp>
      <p:sp>
        <p:nvSpPr>
          <p:cNvPr id="27" name="Shape 25"/>
          <p:cNvSpPr/>
          <p:nvPr/>
        </p:nvSpPr>
        <p:spPr>
          <a:xfrm>
            <a:off x="5687568" y="4654296"/>
            <a:ext cx="274320" cy="0"/>
          </a:xfrm>
          <a:prstGeom prst="line">
            <a:avLst/>
          </a:prstGeom>
          <a:noFill/>
          <a:ln w="19050">
            <a:solidFill>
              <a:srgbClr val="2E5247"/>
            </a:solidFill>
            <a:prstDash val="solid"/>
            <a:tailEnd type="triangle"/>
          </a:ln>
        </p:spPr>
      </p:sp>
      <p:sp>
        <p:nvSpPr>
          <p:cNvPr id="28" name="Shape 26"/>
          <p:cNvSpPr/>
          <p:nvPr/>
        </p:nvSpPr>
        <p:spPr>
          <a:xfrm>
            <a:off x="5989320" y="4279392"/>
            <a:ext cx="1508760" cy="749808"/>
          </a:xfrm>
          <a:prstGeom prst="rect">
            <a:avLst/>
          </a:prstGeom>
          <a:solidFill>
            <a:srgbClr val="FCFCFA"/>
          </a:solidFill>
          <a:ln w="15875">
            <a:solidFill>
              <a:srgbClr val="2E5247"/>
            </a:solidFill>
            <a:prstDash val="solid"/>
          </a:ln>
        </p:spPr>
      </p:sp>
      <p:sp>
        <p:nvSpPr>
          <p:cNvPr id="29" name="Text 27"/>
          <p:cNvSpPr/>
          <p:nvPr/>
        </p:nvSpPr>
        <p:spPr>
          <a:xfrm>
            <a:off x="6025896" y="4279392"/>
            <a:ext cx="1435608" cy="749808"/>
          </a:xfrm>
          <a:prstGeom prst="rect">
            <a:avLst/>
          </a:prstGeom>
          <a:noFill/>
          <a:ln/>
        </p:spPr>
        <p:txBody>
          <a:bodyPr wrap="square" lIns="0" tIns="0" rIns="0" bIns="0" rtlCol="0" anchor="ctr"/>
          <a:lstStyle/>
          <a:p>
            <a:pPr algn="ctr" indent="0" marL="0">
              <a:buNone/>
            </a:pPr>
            <a:r>
              <a:rPr lang="en-US" sz="1150" b="1" dirty="0">
                <a:solidFill>
                  <a:srgbClr val="1F2933"/>
                </a:solidFill>
                <a:latin typeface="Georgia" pitchFamily="34" charset="0"/>
                <a:ea typeface="Georgia" pitchFamily="34" charset="-122"/>
                <a:cs typeface="Georgia" pitchFamily="34" charset="-120"/>
              </a:rPr>
              <a:t>Knowledge</a:t>
            </a:r>
            <a:endParaRPr lang="en-US" sz="1150" dirty="0"/>
          </a:p>
        </p:txBody>
      </p:sp>
      <p:sp>
        <p:nvSpPr>
          <p:cNvPr id="30" name="Shape 28"/>
          <p:cNvSpPr/>
          <p:nvPr/>
        </p:nvSpPr>
        <p:spPr>
          <a:xfrm>
            <a:off x="8321040" y="3246120"/>
            <a:ext cx="1554480" cy="1188720"/>
          </a:xfrm>
          <a:prstGeom prst="rect">
            <a:avLst/>
          </a:prstGeom>
          <a:solidFill>
            <a:srgbClr val="2E5247"/>
          </a:solidFill>
          <a:ln w="15875">
            <a:solidFill>
              <a:srgbClr val="2E5247"/>
            </a:solidFill>
            <a:prstDash val="solid"/>
          </a:ln>
        </p:spPr>
      </p:sp>
      <p:sp>
        <p:nvSpPr>
          <p:cNvPr id="31" name="Text 29"/>
          <p:cNvSpPr/>
          <p:nvPr/>
        </p:nvSpPr>
        <p:spPr>
          <a:xfrm>
            <a:off x="8366760" y="3424428"/>
            <a:ext cx="146304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LLM</a:t>
            </a:r>
            <a:endParaRPr lang="en-US" sz="1500" dirty="0"/>
          </a:p>
        </p:txBody>
      </p:sp>
      <p:sp>
        <p:nvSpPr>
          <p:cNvPr id="32" name="Text 30"/>
          <p:cNvSpPr/>
          <p:nvPr/>
        </p:nvSpPr>
        <p:spPr>
          <a:xfrm>
            <a:off x="8375904" y="3923690"/>
            <a:ext cx="1444752" cy="368503"/>
          </a:xfrm>
          <a:prstGeom prst="rect">
            <a:avLst/>
          </a:prstGeom>
          <a:noFill/>
          <a:ln/>
        </p:spPr>
        <p:txBody>
          <a:bodyPr wrap="square" lIns="0" tIns="0" rIns="0" bIns="0" rtlCol="0" anchor="ctr"/>
          <a:lstStyle/>
          <a:p>
            <a:pPr algn="ctr" indent="0" marL="0">
              <a:buNone/>
            </a:pPr>
            <a:r>
              <a:rPr lang="en-US" sz="900" i="1" dirty="0">
                <a:solidFill>
                  <a:srgbClr val="E5ECE8"/>
                </a:solidFill>
                <a:latin typeface="Calibri" pitchFamily="34" charset="0"/>
                <a:ea typeface="Calibri" pitchFamily="34" charset="-122"/>
                <a:cs typeface="Calibri" pitchFamily="34" charset="-120"/>
              </a:rPr>
              <a:t>assemble</a:t>
            </a:r>
            <a:endParaRPr lang="en-US" sz="900" dirty="0"/>
          </a:p>
        </p:txBody>
      </p:sp>
      <p:sp>
        <p:nvSpPr>
          <p:cNvPr id="33" name="Shape 31"/>
          <p:cNvSpPr/>
          <p:nvPr/>
        </p:nvSpPr>
        <p:spPr>
          <a:xfrm>
            <a:off x="7498080" y="2916936"/>
            <a:ext cx="822960" cy="649224"/>
          </a:xfrm>
          <a:prstGeom prst="line">
            <a:avLst/>
          </a:prstGeom>
          <a:noFill/>
          <a:ln w="19050">
            <a:solidFill>
              <a:srgbClr val="2E5247"/>
            </a:solidFill>
            <a:prstDash val="solid"/>
            <a:tailEnd type="triangle"/>
          </a:ln>
        </p:spPr>
      </p:sp>
      <p:sp>
        <p:nvSpPr>
          <p:cNvPr id="34" name="Shape 32"/>
          <p:cNvSpPr/>
          <p:nvPr/>
        </p:nvSpPr>
        <p:spPr>
          <a:xfrm>
            <a:off x="7498080" y="4654296"/>
            <a:ext cx="822960" cy="-539496"/>
          </a:xfrm>
          <a:prstGeom prst="line">
            <a:avLst/>
          </a:prstGeom>
          <a:noFill/>
          <a:ln w="19050">
            <a:solidFill>
              <a:srgbClr val="2E5247"/>
            </a:solidFill>
            <a:prstDash val="solid"/>
            <a:tailEnd type="triangle"/>
          </a:ln>
        </p:spPr>
      </p:sp>
      <p:sp>
        <p:nvSpPr>
          <p:cNvPr id="35" name="Shape 33"/>
          <p:cNvSpPr/>
          <p:nvPr/>
        </p:nvSpPr>
        <p:spPr>
          <a:xfrm>
            <a:off x="9875520" y="3840480"/>
            <a:ext cx="457200" cy="0"/>
          </a:xfrm>
          <a:prstGeom prst="line">
            <a:avLst/>
          </a:prstGeom>
          <a:noFill/>
          <a:ln w="19050">
            <a:solidFill>
              <a:srgbClr val="2E5247"/>
            </a:solidFill>
            <a:prstDash val="solid"/>
            <a:tailEnd type="triangle"/>
          </a:ln>
        </p:spPr>
      </p:sp>
      <p:sp>
        <p:nvSpPr>
          <p:cNvPr id="36" name="Shape 34"/>
          <p:cNvSpPr/>
          <p:nvPr/>
        </p:nvSpPr>
        <p:spPr>
          <a:xfrm>
            <a:off x="10378440" y="3429000"/>
            <a:ext cx="1691640" cy="822960"/>
          </a:xfrm>
          <a:prstGeom prst="rect">
            <a:avLst/>
          </a:prstGeom>
          <a:solidFill>
            <a:srgbClr val="FCFCFA"/>
          </a:solidFill>
          <a:ln w="15875">
            <a:solidFill>
              <a:srgbClr val="2E5247"/>
            </a:solidFill>
            <a:prstDash val="solid"/>
          </a:ln>
        </p:spPr>
      </p:sp>
      <p:sp>
        <p:nvSpPr>
          <p:cNvPr id="37" name="Text 35"/>
          <p:cNvSpPr/>
          <p:nvPr/>
        </p:nvSpPr>
        <p:spPr>
          <a:xfrm>
            <a:off x="10415016" y="3429000"/>
            <a:ext cx="1618488" cy="82296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FoodEx2 code</a:t>
            </a:r>
            <a:endParaRPr lang="en-US" sz="1250" dirty="0"/>
          </a:p>
        </p:txBody>
      </p:sp>
      <p:sp>
        <p:nvSpPr>
          <p:cNvPr id="38" name="Shape 36"/>
          <p:cNvSpPr/>
          <p:nvPr/>
        </p:nvSpPr>
        <p:spPr>
          <a:xfrm>
            <a:off x="11219688" y="4251960"/>
            <a:ext cx="0" cy="548640"/>
          </a:xfrm>
          <a:prstGeom prst="line">
            <a:avLst/>
          </a:prstGeom>
          <a:noFill/>
          <a:ln w="19050">
            <a:solidFill>
              <a:srgbClr val="2E5247"/>
            </a:solidFill>
            <a:prstDash val="solid"/>
            <a:tailEnd type="triangle"/>
          </a:ln>
        </p:spPr>
      </p:sp>
      <p:sp>
        <p:nvSpPr>
          <p:cNvPr id="39" name="Shape 37"/>
          <p:cNvSpPr/>
          <p:nvPr/>
        </p:nvSpPr>
        <p:spPr>
          <a:xfrm>
            <a:off x="10378440" y="4846320"/>
            <a:ext cx="1691640" cy="731520"/>
          </a:xfrm>
          <a:prstGeom prst="rect">
            <a:avLst/>
          </a:prstGeom>
          <a:solidFill>
            <a:srgbClr val="F2F1EC"/>
          </a:solidFill>
          <a:ln w="15875">
            <a:solidFill>
              <a:srgbClr val="2E5247"/>
            </a:solidFill>
            <a:prstDash val="solid"/>
          </a:ln>
        </p:spPr>
      </p:sp>
      <p:sp>
        <p:nvSpPr>
          <p:cNvPr id="40" name="Text 38"/>
          <p:cNvSpPr/>
          <p:nvPr/>
        </p:nvSpPr>
        <p:spPr>
          <a:xfrm>
            <a:off x="10415016" y="4846320"/>
            <a:ext cx="1618488" cy="73152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Evaluation</a:t>
            </a:r>
            <a:endParaRPr lang="en-US" sz="1250" dirty="0"/>
          </a:p>
        </p:txBody>
      </p:sp>
      <p:sp>
        <p:nvSpPr>
          <p:cNvPr id="41" name="Text 39"/>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Figure 5.  Two subsystems supply the parts and the knowledge; the model assembles a code, which is then evaluated.</a:t>
            </a:r>
            <a:endParaRPr lang="en-US" sz="1100" dirty="0"/>
          </a:p>
        </p:txBody>
      </p:sp>
      <p:sp>
        <p:nvSpPr>
          <p:cNvPr id="42" name="Text 40"/>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09</a:t>
            </a:r>
            <a:endParaRPr lang="en-US" sz="950" dirty="0"/>
          </a:p>
        </p:txBody>
      </p:sp>
      <p:sp>
        <p:nvSpPr>
          <p:cNvPr id="43" name="Text 41"/>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§6   THE HARD CASE</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When the building block is missing</a:t>
            </a:r>
            <a:endParaRPr lang="en-US" sz="2800" dirty="0"/>
          </a:p>
        </p:txBody>
      </p:sp>
      <p:sp>
        <p:nvSpPr>
          <p:cNvPr id="4" name="Text 2"/>
          <p:cNvSpPr/>
          <p:nvPr/>
        </p:nvSpPr>
        <p:spPr>
          <a:xfrm>
            <a:off x="822960" y="1645920"/>
            <a:ext cx="10515600" cy="1234440"/>
          </a:xfrm>
          <a:prstGeom prst="rect">
            <a:avLst/>
          </a:prstGeom>
          <a:noFill/>
          <a:ln/>
        </p:spPr>
        <p:txBody>
          <a:bodyPr wrap="square" lIns="0" tIns="0" rIns="0" bIns="0" rtlCol="0" anchor="ctr"/>
          <a:lstStyle/>
          <a:p>
            <a:pPr indent="0" marL="0">
              <a:lnSpc>
                <a:spcPct val="122000"/>
              </a:lnSpc>
              <a:buNone/>
            </a:pPr>
            <a:r>
              <a:rPr lang="en-US" sz="1450" dirty="0">
                <a:solidFill>
                  <a:srgbClr val="434C54"/>
                </a:solidFill>
                <a:latin typeface="Calibri" pitchFamily="34" charset="0"/>
                <a:ea typeface="Calibri" pitchFamily="34" charset="-122"/>
                <a:cs typeface="Calibri" pitchFamily="34" charset="-120"/>
              </a:rPr>
              <a:t>Some correct base terms can never be retrieved. Under VMPR, a non-food matrix such as sheep urine or blood must take a group term for non-food animal matrices (</a:t>
            </a:r>
            <a:pPr indent="0" marL="0">
              <a:lnSpc>
                <a:spcPct val="122000"/>
              </a:lnSpc>
              <a:buNone/>
            </a:pPr>
            <a:r>
              <a:rPr lang="en-US" sz="1450" b="1" dirty="0">
                <a:solidFill>
                  <a:srgbClr val="2E5247"/>
                </a:solidFill>
                <a:latin typeface="Consolas" pitchFamily="34" charset="0"/>
                <a:ea typeface="Consolas" pitchFamily="34" charset="-122"/>
                <a:cs typeface="Consolas" pitchFamily="34" charset="-120"/>
              </a:rPr>
              <a:t>A0C60</a:t>
            </a:r>
            <a:pPr indent="0" marL="0">
              <a:lnSpc>
                <a:spcPct val="122000"/>
              </a:lnSpc>
              <a:buNone/>
            </a:pPr>
            <a:r>
              <a:rPr lang="en-US" sz="1450" dirty="0">
                <a:solidFill>
                  <a:srgbClr val="434C54"/>
                </a:solidFill>
                <a:latin typeface="Calibri" pitchFamily="34" charset="0"/>
                <a:ea typeface="Calibri" pitchFamily="34" charset="-122"/>
                <a:cs typeface="Calibri" pitchFamily="34" charset="-120"/>
              </a:rPr>
              <a:t>). A food-tuned search never returns it; the list offers milk, offal, kidney, and the valid-but-wrong “animal blood”. The base exists only in the knowledge, so the code can be produced only by combining the two, with the model applying the rule over a tempting but valid alternative.</a:t>
            </a:r>
            <a:endParaRPr lang="en-US" sz="1450" dirty="0"/>
          </a:p>
        </p:txBody>
      </p:sp>
      <p:sp>
        <p:nvSpPr>
          <p:cNvPr id="5" name="Shape 3"/>
          <p:cNvSpPr/>
          <p:nvPr/>
        </p:nvSpPr>
        <p:spPr>
          <a:xfrm>
            <a:off x="822960" y="3429000"/>
            <a:ext cx="3977640" cy="914400"/>
          </a:xfrm>
          <a:prstGeom prst="rect">
            <a:avLst/>
          </a:prstGeom>
          <a:solidFill>
            <a:srgbClr val="F2F1EC"/>
          </a:solidFill>
          <a:ln w="15875">
            <a:solidFill>
              <a:srgbClr val="2E5247"/>
            </a:solidFill>
            <a:prstDash val="solid"/>
          </a:ln>
        </p:spPr>
      </p:sp>
      <p:sp>
        <p:nvSpPr>
          <p:cNvPr id="6" name="Text 4"/>
          <p:cNvSpPr/>
          <p:nvPr/>
        </p:nvSpPr>
        <p:spPr>
          <a:xfrm>
            <a:off x="868680" y="3566160"/>
            <a:ext cx="3886200" cy="36576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Candidate list</a:t>
            </a:r>
            <a:endParaRPr lang="en-US" sz="1250" dirty="0"/>
          </a:p>
        </p:txBody>
      </p:sp>
      <p:sp>
        <p:nvSpPr>
          <p:cNvPr id="7" name="Text 5"/>
          <p:cNvSpPr/>
          <p:nvPr/>
        </p:nvSpPr>
        <p:spPr>
          <a:xfrm>
            <a:off x="877824" y="3950208"/>
            <a:ext cx="3867912" cy="283464"/>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milk · offal · kidney · animal blood (A0F1T)</a:t>
            </a:r>
            <a:endParaRPr lang="en-US" sz="900" dirty="0"/>
          </a:p>
        </p:txBody>
      </p:sp>
      <p:sp>
        <p:nvSpPr>
          <p:cNvPr id="8" name="Text 6"/>
          <p:cNvSpPr/>
          <p:nvPr/>
        </p:nvSpPr>
        <p:spPr>
          <a:xfrm>
            <a:off x="822960" y="4370832"/>
            <a:ext cx="3977640" cy="237744"/>
          </a:xfrm>
          <a:prstGeom prst="rect">
            <a:avLst/>
          </a:prstGeom>
          <a:noFill/>
          <a:ln/>
        </p:spPr>
        <p:txBody>
          <a:bodyPr wrap="square" lIns="0" tIns="0" rIns="0" bIns="0" rtlCol="0" anchor="ctr"/>
          <a:lstStyle/>
          <a:p>
            <a:pPr algn="ctr" indent="0" marL="0">
              <a:buNone/>
            </a:pPr>
            <a:r>
              <a:rPr lang="en-US" sz="950" i="1" dirty="0">
                <a:solidFill>
                  <a:srgbClr val="A65A3F"/>
                </a:solidFill>
                <a:latin typeface="Calibri" pitchFamily="34" charset="0"/>
                <a:ea typeface="Calibri" pitchFamily="34" charset="-122"/>
                <a:cs typeface="Calibri" pitchFamily="34" charset="-120"/>
              </a:rPr>
              <a:t>correct base absent</a:t>
            </a:r>
            <a:endParaRPr lang="en-US" sz="950" dirty="0"/>
          </a:p>
        </p:txBody>
      </p:sp>
      <p:sp>
        <p:nvSpPr>
          <p:cNvPr id="9" name="Shape 7"/>
          <p:cNvSpPr/>
          <p:nvPr/>
        </p:nvSpPr>
        <p:spPr>
          <a:xfrm>
            <a:off x="822960" y="4846320"/>
            <a:ext cx="3977640" cy="914400"/>
          </a:xfrm>
          <a:prstGeom prst="rect">
            <a:avLst/>
          </a:prstGeom>
          <a:solidFill>
            <a:srgbClr val="F2F1EC"/>
          </a:solidFill>
          <a:ln w="15875">
            <a:solidFill>
              <a:srgbClr val="2E5247"/>
            </a:solidFill>
            <a:prstDash val="solid"/>
          </a:ln>
        </p:spPr>
      </p:sp>
      <p:sp>
        <p:nvSpPr>
          <p:cNvPr id="10" name="Text 8"/>
          <p:cNvSpPr/>
          <p:nvPr/>
        </p:nvSpPr>
        <p:spPr>
          <a:xfrm>
            <a:off x="868680" y="4983480"/>
            <a:ext cx="3886200" cy="365760"/>
          </a:xfrm>
          <a:prstGeom prst="rect">
            <a:avLst/>
          </a:prstGeom>
          <a:noFill/>
          <a:ln/>
        </p:spPr>
        <p:txBody>
          <a:bodyPr wrap="square" lIns="0" tIns="0" rIns="0" bIns="0" rtlCol="0" anchor="ctr"/>
          <a:lstStyle/>
          <a:p>
            <a:pPr algn="ctr" indent="0" marL="0">
              <a:buNone/>
            </a:pPr>
            <a:r>
              <a:rPr lang="en-US" sz="1250" b="1" dirty="0">
                <a:solidFill>
                  <a:srgbClr val="1F2933"/>
                </a:solidFill>
                <a:latin typeface="Georgia" pitchFamily="34" charset="0"/>
                <a:ea typeface="Georgia" pitchFamily="34" charset="-122"/>
                <a:cs typeface="Georgia" pitchFamily="34" charset="-120"/>
              </a:rPr>
              <a:t>Knowledge</a:t>
            </a:r>
            <a:endParaRPr lang="en-US" sz="1250" dirty="0"/>
          </a:p>
        </p:txBody>
      </p:sp>
      <p:sp>
        <p:nvSpPr>
          <p:cNvPr id="11" name="Text 9"/>
          <p:cNvSpPr/>
          <p:nvPr/>
        </p:nvSpPr>
        <p:spPr>
          <a:xfrm>
            <a:off x="877824" y="5367528"/>
            <a:ext cx="3867912" cy="283464"/>
          </a:xfrm>
          <a:prstGeom prst="rect">
            <a:avLst/>
          </a:prstGeom>
          <a:noFill/>
          <a:ln/>
        </p:spPr>
        <p:txBody>
          <a:bodyPr wrap="square" lIns="0" tIns="0" rIns="0" bIns="0" rtlCol="0" anchor="ctr"/>
          <a:lstStyle/>
          <a:p>
            <a:pPr algn="ctr" indent="0" marL="0">
              <a:buNone/>
            </a:pPr>
            <a:r>
              <a:rPr lang="en-US" sz="900" i="1" dirty="0">
                <a:solidFill>
                  <a:srgbClr val="9AA0A6"/>
                </a:solidFill>
                <a:latin typeface="Calibri" pitchFamily="34" charset="0"/>
                <a:ea typeface="Calibri" pitchFamily="34" charset="-122"/>
                <a:cs typeface="Calibri" pitchFamily="34" charset="-120"/>
              </a:rPr>
              <a:t>non-food matrix → group term A0C60</a:t>
            </a:r>
            <a:endParaRPr lang="en-US" sz="900" dirty="0"/>
          </a:p>
        </p:txBody>
      </p:sp>
      <p:sp>
        <p:nvSpPr>
          <p:cNvPr id="12" name="Shape 10"/>
          <p:cNvSpPr/>
          <p:nvPr/>
        </p:nvSpPr>
        <p:spPr>
          <a:xfrm>
            <a:off x="4846320" y="3886200"/>
            <a:ext cx="1005840" cy="411480"/>
          </a:xfrm>
          <a:prstGeom prst="line">
            <a:avLst/>
          </a:prstGeom>
          <a:noFill/>
          <a:ln w="19050">
            <a:solidFill>
              <a:srgbClr val="2E5247"/>
            </a:solidFill>
            <a:prstDash val="solid"/>
            <a:tailEnd type="triangle"/>
          </a:ln>
        </p:spPr>
      </p:sp>
      <p:sp>
        <p:nvSpPr>
          <p:cNvPr id="13" name="Shape 11"/>
          <p:cNvSpPr/>
          <p:nvPr/>
        </p:nvSpPr>
        <p:spPr>
          <a:xfrm>
            <a:off x="4846320" y="5303520"/>
            <a:ext cx="1005840" cy="-411480"/>
          </a:xfrm>
          <a:prstGeom prst="line">
            <a:avLst/>
          </a:prstGeom>
          <a:noFill/>
          <a:ln w="19050">
            <a:solidFill>
              <a:srgbClr val="2E5247"/>
            </a:solidFill>
            <a:prstDash val="solid"/>
            <a:tailEnd type="triangle"/>
          </a:ln>
        </p:spPr>
      </p:sp>
      <p:sp>
        <p:nvSpPr>
          <p:cNvPr id="14" name="Shape 12"/>
          <p:cNvSpPr/>
          <p:nvPr/>
        </p:nvSpPr>
        <p:spPr>
          <a:xfrm>
            <a:off x="5897880" y="4023360"/>
            <a:ext cx="1645920" cy="1097280"/>
          </a:xfrm>
          <a:prstGeom prst="rect">
            <a:avLst/>
          </a:prstGeom>
          <a:solidFill>
            <a:srgbClr val="2E5247"/>
          </a:solidFill>
          <a:ln w="15875">
            <a:solidFill>
              <a:srgbClr val="2E5247"/>
            </a:solidFill>
            <a:prstDash val="solid"/>
          </a:ln>
        </p:spPr>
      </p:sp>
      <p:sp>
        <p:nvSpPr>
          <p:cNvPr id="15" name="Text 13"/>
          <p:cNvSpPr/>
          <p:nvPr/>
        </p:nvSpPr>
        <p:spPr>
          <a:xfrm>
            <a:off x="5943600" y="4187952"/>
            <a:ext cx="155448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Model</a:t>
            </a:r>
            <a:endParaRPr lang="en-US" sz="1400" dirty="0"/>
          </a:p>
        </p:txBody>
      </p:sp>
      <p:sp>
        <p:nvSpPr>
          <p:cNvPr id="16" name="Text 14"/>
          <p:cNvSpPr/>
          <p:nvPr/>
        </p:nvSpPr>
        <p:spPr>
          <a:xfrm>
            <a:off x="5952744" y="4648810"/>
            <a:ext cx="1536192" cy="340157"/>
          </a:xfrm>
          <a:prstGeom prst="rect">
            <a:avLst/>
          </a:prstGeom>
          <a:noFill/>
          <a:ln/>
        </p:spPr>
        <p:txBody>
          <a:bodyPr wrap="square" lIns="0" tIns="0" rIns="0" bIns="0" rtlCol="0" anchor="ctr"/>
          <a:lstStyle/>
          <a:p>
            <a:pPr algn="ctr" indent="0" marL="0">
              <a:buNone/>
            </a:pPr>
            <a:r>
              <a:rPr lang="en-US" sz="900" i="1" dirty="0">
                <a:solidFill>
                  <a:srgbClr val="E5ECE8"/>
                </a:solidFill>
                <a:latin typeface="Calibri" pitchFamily="34" charset="0"/>
                <a:ea typeface="Calibri" pitchFamily="34" charset="-122"/>
                <a:cs typeface="Calibri" pitchFamily="34" charset="-120"/>
              </a:rPr>
              <a:t>reconcile</a:t>
            </a:r>
            <a:endParaRPr lang="en-US" sz="900" dirty="0"/>
          </a:p>
        </p:txBody>
      </p:sp>
      <p:sp>
        <p:nvSpPr>
          <p:cNvPr id="17" name="Shape 15"/>
          <p:cNvSpPr/>
          <p:nvPr/>
        </p:nvSpPr>
        <p:spPr>
          <a:xfrm>
            <a:off x="7543800" y="4572000"/>
            <a:ext cx="731520" cy="0"/>
          </a:xfrm>
          <a:prstGeom prst="line">
            <a:avLst/>
          </a:prstGeom>
          <a:noFill/>
          <a:ln w="19050">
            <a:solidFill>
              <a:srgbClr val="2E5247"/>
            </a:solidFill>
            <a:prstDash val="solid"/>
            <a:tailEnd type="triangle"/>
          </a:ln>
        </p:spPr>
      </p:sp>
      <p:sp>
        <p:nvSpPr>
          <p:cNvPr id="18" name="Shape 16"/>
          <p:cNvSpPr/>
          <p:nvPr/>
        </p:nvSpPr>
        <p:spPr>
          <a:xfrm>
            <a:off x="8321040" y="4206240"/>
            <a:ext cx="2971800" cy="777240"/>
          </a:xfrm>
          <a:prstGeom prst="rect">
            <a:avLst/>
          </a:prstGeom>
          <a:solidFill>
            <a:srgbClr val="FCFCFA"/>
          </a:solidFill>
          <a:ln w="15875">
            <a:solidFill>
              <a:srgbClr val="2E5247"/>
            </a:solidFill>
            <a:prstDash val="solid"/>
          </a:ln>
        </p:spPr>
      </p:sp>
      <p:sp>
        <p:nvSpPr>
          <p:cNvPr id="19" name="Text 17"/>
          <p:cNvSpPr/>
          <p:nvPr/>
        </p:nvSpPr>
        <p:spPr>
          <a:xfrm>
            <a:off x="8357616" y="4206240"/>
            <a:ext cx="2898648" cy="777240"/>
          </a:xfrm>
          <a:prstGeom prst="rect">
            <a:avLst/>
          </a:prstGeom>
          <a:noFill/>
          <a:ln/>
        </p:spPr>
        <p:txBody>
          <a:bodyPr wrap="square" lIns="0" tIns="0" rIns="0" bIns="0" rtlCol="0" anchor="ctr"/>
          <a:lstStyle/>
          <a:p>
            <a:pPr algn="ctr" indent="0" marL="0">
              <a:buNone/>
            </a:pPr>
            <a:r>
              <a:rPr lang="en-US" sz="1300" b="1" dirty="0">
                <a:solidFill>
                  <a:srgbClr val="1F2933"/>
                </a:solidFill>
                <a:latin typeface="Georgia" pitchFamily="34" charset="0"/>
                <a:ea typeface="Georgia" pitchFamily="34" charset="-122"/>
                <a:cs typeface="Georgia" pitchFamily="34" charset="-120"/>
              </a:rPr>
              <a:t>A0C60 # F01 …</a:t>
            </a:r>
            <a:endParaRPr lang="en-US" sz="1300" dirty="0"/>
          </a:p>
        </p:txBody>
      </p:sp>
      <p:sp>
        <p:nvSpPr>
          <p:cNvPr id="20" name="Text 18"/>
          <p:cNvSpPr/>
          <p:nvPr/>
        </p:nvSpPr>
        <p:spPr>
          <a:xfrm>
            <a:off x="8321040" y="5029200"/>
            <a:ext cx="3017520" cy="548640"/>
          </a:xfrm>
          <a:prstGeom prst="rect">
            <a:avLst/>
          </a:prstGeom>
          <a:noFill/>
          <a:ln/>
        </p:spPr>
        <p:txBody>
          <a:bodyPr wrap="square" lIns="0" tIns="0" rIns="0" bIns="0" rtlCol="0" anchor="ctr"/>
          <a:lstStyle/>
          <a:p>
            <a:pPr indent="0" marL="0">
              <a:lnSpc>
                <a:spcPct val="110000"/>
              </a:lnSpc>
              <a:buNone/>
            </a:pPr>
            <a:r>
              <a:rPr lang="en-US" sz="950" i="1" dirty="0">
                <a:solidFill>
                  <a:srgbClr val="9AA0A6"/>
                </a:solidFill>
                <a:latin typeface="Calibri" pitchFamily="34" charset="0"/>
                <a:ea typeface="Calibri" pitchFamily="34" charset="-122"/>
                <a:cs typeface="Calibri" pitchFamily="34" charset="-120"/>
              </a:rPr>
              <a:t>base from the knowledge, not the list; A0F1T (valid) is set aside by convention</a:t>
            </a:r>
            <a:endParaRPr lang="en-US" sz="950" dirty="0"/>
          </a:p>
        </p:txBody>
      </p:sp>
      <p:sp>
        <p:nvSpPr>
          <p:cNvPr id="21" name="Text 19"/>
          <p:cNvSpPr/>
          <p:nvPr/>
        </p:nvSpPr>
        <p:spPr>
          <a:xfrm>
            <a:off x="822960" y="5943600"/>
            <a:ext cx="10561320" cy="411480"/>
          </a:xfrm>
          <a:prstGeom prst="rect">
            <a:avLst/>
          </a:prstGeom>
          <a:noFill/>
          <a:ln/>
        </p:spPr>
        <p:txBody>
          <a:bodyPr wrap="square" lIns="0" tIns="0" rIns="0" bIns="0" rtlCol="0" anchor="ctr"/>
          <a:lstStyle/>
          <a:p>
            <a:pPr indent="0" marL="0">
              <a:lnSpc>
                <a:spcPct val="110000"/>
              </a:lnSpc>
              <a:buNone/>
            </a:pPr>
            <a:r>
              <a:rPr lang="en-US" sz="1100" i="1" dirty="0">
                <a:solidFill>
                  <a:srgbClr val="9AA0A6"/>
                </a:solidFill>
                <a:latin typeface="Calibri" pitchFamily="34" charset="0"/>
                <a:ea typeface="Calibri" pitchFamily="34" charset="-122"/>
                <a:cs typeface="Calibri" pitchFamily="34" charset="-120"/>
              </a:rPr>
              <a:t>Figure 6.  When the correct base is absent from the list, the knowledge supplies it; the model must combine the two and set aside a valid alternative.</a:t>
            </a:r>
            <a:endParaRPr lang="en-US" sz="1100" dirty="0"/>
          </a:p>
        </p:txBody>
      </p:sp>
      <p:sp>
        <p:nvSpPr>
          <p:cNvPr id="22" name="Text 20"/>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10</a:t>
            </a:r>
            <a:endParaRPr lang="en-US" sz="950" dirty="0"/>
          </a:p>
        </p:txBody>
      </p:sp>
      <p:sp>
        <p:nvSpPr>
          <p:cNvPr id="23" name="Text 21"/>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§6   THE HARD CASE</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400" b="1" dirty="0">
                <a:solidFill>
                  <a:srgbClr val="1F2933"/>
                </a:solidFill>
                <a:latin typeface="Georgia" pitchFamily="34" charset="0"/>
                <a:ea typeface="Georgia" pitchFamily="34" charset="-122"/>
                <a:cs typeface="Georgia" pitchFamily="34" charset="-120"/>
              </a:rPr>
              <a:t>Blood as a non-food matrix: a model-capability frontier</a:t>
            </a:r>
            <a:endParaRPr lang="en-US" sz="2400" dirty="0"/>
          </a:p>
        </p:txBody>
      </p:sp>
      <p:sp>
        <p:nvSpPr>
          <p:cNvPr id="4" name="Text 2"/>
          <p:cNvSpPr/>
          <p:nvPr/>
        </p:nvSpPr>
        <p:spPr>
          <a:xfrm>
            <a:off x="822960" y="1517904"/>
            <a:ext cx="10515600" cy="640080"/>
          </a:xfrm>
          <a:prstGeom prst="rect">
            <a:avLst/>
          </a:prstGeom>
          <a:noFill/>
          <a:ln/>
        </p:spPr>
        <p:txBody>
          <a:bodyPr wrap="square" lIns="0" tIns="0" rIns="0" bIns="0" rtlCol="0" anchor="ctr"/>
          <a:lstStyle/>
          <a:p>
            <a:pPr indent="0" marL="0">
              <a:lnSpc>
                <a:spcPct val="122000"/>
              </a:lnSpc>
              <a:buNone/>
            </a:pPr>
            <a:r>
              <a:rPr lang="en-US" sz="1300" dirty="0">
                <a:solidFill>
                  <a:srgbClr val="434C54"/>
                </a:solidFill>
                <a:latin typeface="Calibri" pitchFamily="34" charset="0"/>
                <a:ea typeface="Calibri" pitchFamily="34" charset="-122"/>
                <a:cs typeface="Calibri" pitchFamily="34" charset="-120"/>
              </a:rPr>
              <a:t>Blood, serum and plasma must be coded as a non-food matrix (</a:t>
            </a:r>
            <a:pPr indent="0" marL="0">
              <a:lnSpc>
                <a:spcPct val="122000"/>
              </a:lnSpc>
              <a:buNone/>
            </a:pPr>
            <a:r>
              <a:rPr lang="en-US" sz="1300" b="1" dirty="0">
                <a:solidFill>
                  <a:srgbClr val="2E5247"/>
                </a:solidFill>
                <a:latin typeface="Consolas" pitchFamily="34" charset="0"/>
                <a:ea typeface="Consolas" pitchFamily="34" charset="-122"/>
                <a:cs typeface="Consolas" pitchFamily="34" charset="-120"/>
              </a:rPr>
              <a:t>A0C60</a:t>
            </a:r>
            <a:pPr indent="0" marL="0">
              <a:lnSpc>
                <a:spcPct val="122000"/>
              </a:lnSpc>
              <a:buNone/>
            </a:pPr>
            <a:r>
              <a:rPr lang="en-US" sz="1300" dirty="0">
                <a:solidFill>
                  <a:srgbClr val="434C54"/>
                </a:solidFill>
                <a:latin typeface="Calibri" pitchFamily="34" charset="0"/>
                <a:ea typeface="Calibri" pitchFamily="34" charset="-122"/>
                <a:cs typeface="Calibri" pitchFamily="34" charset="-120"/>
              </a:rPr>
              <a:t>), not the valid term “animal blood” (</a:t>
            </a:r>
            <a:pPr indent="0" marL="0">
              <a:lnSpc>
                <a:spcPct val="122000"/>
              </a:lnSpc>
              <a:buNone/>
            </a:pPr>
            <a:r>
              <a:rPr lang="en-US" sz="1300" b="1" dirty="0">
                <a:solidFill>
                  <a:srgbClr val="A65A3F"/>
                </a:solidFill>
                <a:latin typeface="Consolas" pitchFamily="34" charset="0"/>
                <a:ea typeface="Consolas" pitchFamily="34" charset="-122"/>
                <a:cs typeface="Consolas" pitchFamily="34" charset="-120"/>
              </a:rPr>
              <a:t>A0F1T</a:t>
            </a:r>
            <a:pPr indent="0" marL="0">
              <a:lnSpc>
                <a:spcPct val="122000"/>
              </a:lnSpc>
              <a:buNone/>
            </a:pPr>
            <a:r>
              <a:rPr lang="en-US" sz="1300" dirty="0">
                <a:solidFill>
                  <a:srgbClr val="434C54"/>
                </a:solidFill>
                <a:latin typeface="Calibri" pitchFamily="34" charset="0"/>
                <a:ea typeface="Calibri" pitchFamily="34" charset="-122"/>
                <a:cs typeface="Calibri" pitchFamily="34" charset="-120"/>
              </a:rPr>
              <a:t>). With identical parts and knowledge, only one model applies the convention across all four samples.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2194560"/>
          <a:ext cx="9143771" cy="914400"/>
        </p:xfrm>
        <a:graphic>
          <a:graphicData uri="http://schemas.openxmlformats.org/drawingml/2006/table">
            <a:tbl>
              <a:tblPr/>
              <a:tblGrid>
                <a:gridCol w="1828800"/>
                <a:gridCol w="1920240"/>
                <a:gridCol w="1920240"/>
                <a:gridCol w="1920240"/>
                <a:gridCol w="1920240"/>
                <a:gridCol w="868680"/>
              </a:tblGrid>
              <a:tr h="42062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2E52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Cattle</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2E52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Pig</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2E52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Horse</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2E52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Chicken</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2E524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2E5247"/>
                    </a:solidFill>
                  </a:tcPr>
                </a:tc>
              </a:tr>
              <a:tr h="420624">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gpt-5.4</a:t>
                      </a:r>
                      <a:endParaRPr lang="en-US" sz="1050" dirty="0">
                        <a:latin typeface="Calibri" charset="0"/>
                        <a:ea typeface="Calibri" charset="0"/>
                        <a:cs typeface="Calibri" charset="0"/>
                      </a:endParaRPr>
                    </a:p>
                  </a:txBody>
                  <a:tcPr marL="76200" marR="635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EAF0EC"/>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A0C60#F01.A0F1V$F02.A0CEY</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EAF0EC"/>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A0C60#F01.A01RG$F02.A0CEX</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EAF0EC"/>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A0C60#F01.A0B9Z$F02.A06AL</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EAF0EC"/>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A0C60#F01.A057Z$F02.A06AL</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EAF0EC"/>
                    </a:solidFill>
                  </a:tcPr>
                </a:tc>
                <a:tc>
                  <a:txBody>
                    <a:bodyPr/>
                    <a:lstStyle/>
                    <a:p>
                      <a:pPr algn="ctr" indent="0" marL="0">
                        <a:buNone/>
                      </a:pPr>
                      <a:r>
                        <a:rPr lang="en-US" sz="1100" b="1" dirty="0">
                          <a:solidFill>
                            <a:srgbClr val="2E5247"/>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EAF0EC"/>
                    </a:solidFill>
                  </a:tcPr>
                </a:tc>
              </a:tr>
              <a:tr h="420624">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gemini-3.5-flash</a:t>
                      </a:r>
                      <a:endParaRPr lang="en-US" sz="1050" dirty="0">
                        <a:latin typeface="Calibri" charset="0"/>
                        <a:ea typeface="Calibri" charset="0"/>
                        <a:cs typeface="Calibri" charset="0"/>
                      </a:endParaRPr>
                    </a:p>
                  </a:txBody>
                  <a:tcPr marL="76200" marR="635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A0C60#F01.A057E$F02.A0CEY</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A0C60#F01.A057F$F02.A06AL</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A0F1T#F01.A0B9Z</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A0F1T#F01.A057Z$F21.A0C7G</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34C54"/>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claude-sonnet-4-6</a:t>
                      </a:r>
                      <a:endParaRPr lang="en-US" sz="1050" dirty="0">
                        <a:latin typeface="Calibri" charset="0"/>
                        <a:ea typeface="Calibri" charset="0"/>
                        <a:cs typeface="Calibri" charset="0"/>
                      </a:endParaRPr>
                    </a:p>
                  </a:txBody>
                  <a:tcPr marL="76200" marR="635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A0F1T#F01.A057E$F02.A0CEY</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A0C60#F01.A01RG$F02.A0CEX</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A0C60#F01.A0B9Z$F02.A06AL</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A0F1T#F01.A057Z</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34C54"/>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mistral-large-2512</a:t>
                      </a:r>
                      <a:endParaRPr lang="en-US" sz="1050" dirty="0">
                        <a:latin typeface="Calibri" charset="0"/>
                        <a:ea typeface="Calibri" charset="0"/>
                        <a:cs typeface="Calibri" charset="0"/>
                      </a:endParaRPr>
                    </a:p>
                  </a:txBody>
                  <a:tcPr marL="76200" marR="635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A0F1T#F01.A057E$F02.A0CEY</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A0C60#F01.A057F$F02.A06AL</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A0F1T#F01.A0B9Z$F02.A0CEX</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A0F1T#F01.A057Z</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34C54"/>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deepseek-v4-pro</a:t>
                      </a:r>
                      <a:endParaRPr lang="en-US" sz="1050" dirty="0">
                        <a:latin typeface="Calibri" charset="0"/>
                        <a:ea typeface="Calibri" charset="0"/>
                        <a:cs typeface="Calibri" charset="0"/>
                      </a:endParaRPr>
                    </a:p>
                  </a:txBody>
                  <a:tcPr marL="76200" marR="635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2E5247"/>
                          </a:solidFill>
                          <a:latin typeface="Consolas" pitchFamily="34" charset="0"/>
                          <a:ea typeface="Consolas" pitchFamily="34" charset="-122"/>
                          <a:cs typeface="Consolas" pitchFamily="34" charset="-120"/>
                        </a:rPr>
                        <a:t>A0C60#F01.A057E$F02.A0CEY</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A0F1T#F01.A01RG$F02.A0CEX</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A0F1T#F01.A0B9Z$F02.A0CEX</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A0F1T#F01.A057Z$F26.A07XE</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34C54"/>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2933"/>
                          </a:solidFill>
                          <a:latin typeface="Calibri" pitchFamily="34" charset="0"/>
                          <a:ea typeface="Calibri" pitchFamily="34" charset="-122"/>
                          <a:cs typeface="Calibri" pitchFamily="34" charset="-120"/>
                        </a:rPr>
                        <a:t>gpt-oss-120b</a:t>
                      </a:r>
                      <a:endParaRPr lang="en-US" sz="1050" dirty="0">
                        <a:latin typeface="Calibri" charset="0"/>
                        <a:ea typeface="Calibri" charset="0"/>
                        <a:cs typeface="Calibri" charset="0"/>
                      </a:endParaRPr>
                    </a:p>
                  </a:txBody>
                  <a:tcPr marL="76200" marR="635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A0F1T#F02.A0CEY</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A0F1T#F01.A057E</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l" indent="0" marL="0">
                        <a:buNone/>
                      </a:pPr>
                      <a:r>
                        <a:rPr lang="en-US" sz="800" dirty="0">
                          <a:solidFill>
                            <a:srgbClr val="A65A3F"/>
                          </a:solidFill>
                          <a:latin typeface="Consolas" pitchFamily="34" charset="0"/>
                          <a:ea typeface="Consolas" pitchFamily="34" charset="-122"/>
                          <a:cs typeface="Consolas" pitchFamily="34" charset="-120"/>
                        </a:rPr>
                        <a:t>A0F1T#F01.A057Z</a:t>
                      </a:r>
                      <a:endParaRPr lang="en-US" sz="800" dirty="0">
                        <a:latin typeface="Consolas" charset="0"/>
                        <a:ea typeface="Consolas" charset="0"/>
                        <a:cs typeface="Consolas" charset="0"/>
                      </a:endParaRPr>
                    </a:p>
                  </a:txBody>
                  <a:tcPr marL="38100" marR="254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434C54"/>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38100" marR="38100" marT="25400" marB="25400" anchor="ctr">
                    <a:lnL w="6350" cap="flat" cmpd="sng" algn="ctr">
                      <a:solidFill>
                        <a:srgbClr val="E4E2DC"/>
                      </a:solidFill>
                      <a:prstDash val="solid"/>
                      <a:round/>
                      <a:headEnd type="none" w="med" len="med"/>
                      <a:tailEnd type="none" w="med" len="med"/>
                    </a:lnL>
                    <a:lnR w="6350" cap="flat" cmpd="sng" algn="ctr">
                      <a:solidFill>
                        <a:srgbClr val="E4E2DC"/>
                      </a:solidFill>
                      <a:prstDash val="solid"/>
                      <a:round/>
                      <a:headEnd type="none" w="med" len="med"/>
                      <a:tailEnd type="none" w="med" len="med"/>
                    </a:lnR>
                    <a:lnT w="6350" cap="flat" cmpd="sng" algn="ctr">
                      <a:solidFill>
                        <a:srgbClr val="E4E2DC"/>
                      </a:solidFill>
                      <a:prstDash val="solid"/>
                      <a:round/>
                      <a:headEnd type="none" w="med" len="med"/>
                      <a:tailEnd type="none" w="med" len="med"/>
                    </a:lnT>
                    <a:lnB w="6350" cap="flat" cmpd="sng" algn="ctr">
                      <a:solidFill>
                        <a:srgbClr val="E4E2DC"/>
                      </a:solidFill>
                      <a:prstDash val="solid"/>
                      <a:round/>
                      <a:headEnd type="none" w="med" len="med"/>
                      <a:tailEnd type="none" w="med" len="med"/>
                    </a:lnB>
                    <a:solidFill>
                      <a:srgbClr val="FFFFFF"/>
                    </a:solidFill>
                  </a:tcPr>
                </a:tc>
              </a:tr>
            </a:tbl>
          </a:graphicData>
        </a:graphic>
      </p:graphicFrame>
      <p:sp>
        <p:nvSpPr>
          <p:cNvPr id="6" name="Shape 3"/>
          <p:cNvSpPr/>
          <p:nvPr/>
        </p:nvSpPr>
        <p:spPr>
          <a:xfrm>
            <a:off x="822960" y="5504688"/>
            <a:ext cx="164592" cy="164592"/>
          </a:xfrm>
          <a:prstGeom prst="rect">
            <a:avLst/>
          </a:prstGeom>
          <a:solidFill>
            <a:srgbClr val="2E5247"/>
          </a:solidFill>
          <a:ln w="12700">
            <a:solidFill>
              <a:srgbClr val="2E5247"/>
            </a:solidFill>
            <a:prstDash val="solid"/>
          </a:ln>
        </p:spPr>
      </p:sp>
      <p:sp>
        <p:nvSpPr>
          <p:cNvPr id="7" name="Text 4"/>
          <p:cNvSpPr/>
          <p:nvPr/>
        </p:nvSpPr>
        <p:spPr>
          <a:xfrm>
            <a:off x="1078992" y="5440680"/>
            <a:ext cx="4297680" cy="274320"/>
          </a:xfrm>
          <a:prstGeom prst="rect">
            <a:avLst/>
          </a:prstGeom>
          <a:noFill/>
          <a:ln/>
        </p:spPr>
        <p:txBody>
          <a:bodyPr wrap="square" lIns="0" tIns="0" rIns="0" bIns="0" rtlCol="0" anchor="ctr"/>
          <a:lstStyle/>
          <a:p>
            <a:pPr indent="0" marL="0">
              <a:buNone/>
            </a:pPr>
            <a:r>
              <a:rPr lang="en-US" sz="950" dirty="0">
                <a:solidFill>
                  <a:srgbClr val="434C54"/>
                </a:solidFill>
                <a:latin typeface="Calibri" pitchFamily="34" charset="0"/>
                <a:ea typeface="Calibri" pitchFamily="34" charset="-122"/>
                <a:cs typeface="Calibri" pitchFamily="34" charset="-120"/>
              </a:rPr>
              <a:t>A0C60 = non-food group term (convention-correct)</a:t>
            </a:r>
            <a:endParaRPr lang="en-US" sz="950" dirty="0"/>
          </a:p>
        </p:txBody>
      </p:sp>
      <p:sp>
        <p:nvSpPr>
          <p:cNvPr id="8" name="Shape 5"/>
          <p:cNvSpPr/>
          <p:nvPr/>
        </p:nvSpPr>
        <p:spPr>
          <a:xfrm>
            <a:off x="5486400" y="5504688"/>
            <a:ext cx="164592" cy="164592"/>
          </a:xfrm>
          <a:prstGeom prst="rect">
            <a:avLst/>
          </a:prstGeom>
          <a:solidFill>
            <a:srgbClr val="A65A3F"/>
          </a:solidFill>
          <a:ln w="12700">
            <a:solidFill>
              <a:srgbClr val="A65A3F"/>
            </a:solidFill>
            <a:prstDash val="solid"/>
          </a:ln>
        </p:spPr>
      </p:sp>
      <p:sp>
        <p:nvSpPr>
          <p:cNvPr id="9" name="Text 6"/>
          <p:cNvSpPr/>
          <p:nvPr/>
        </p:nvSpPr>
        <p:spPr>
          <a:xfrm>
            <a:off x="5742432" y="5440680"/>
            <a:ext cx="4754880" cy="274320"/>
          </a:xfrm>
          <a:prstGeom prst="rect">
            <a:avLst/>
          </a:prstGeom>
          <a:noFill/>
          <a:ln/>
        </p:spPr>
        <p:txBody>
          <a:bodyPr wrap="square" lIns="0" tIns="0" rIns="0" bIns="0" rtlCol="0" anchor="ctr"/>
          <a:lstStyle/>
          <a:p>
            <a:pPr indent="0" marL="0">
              <a:buNone/>
            </a:pPr>
            <a:r>
              <a:rPr lang="en-US" sz="950" dirty="0">
                <a:solidFill>
                  <a:srgbClr val="434C54"/>
                </a:solidFill>
                <a:latin typeface="Calibri" pitchFamily="34" charset="0"/>
                <a:ea typeface="Calibri" pitchFamily="34" charset="-122"/>
                <a:cs typeface="Calibri" pitchFamily="34" charset="-120"/>
              </a:rPr>
              <a:t>A0F1T = animal blood (valid, but convention-wrong)</a:t>
            </a:r>
            <a:endParaRPr lang="en-US" sz="950" dirty="0"/>
          </a:p>
        </p:txBody>
      </p:sp>
      <p:sp>
        <p:nvSpPr>
          <p:cNvPr id="10" name="Text 7"/>
          <p:cNvSpPr/>
          <p:nvPr/>
        </p:nvSpPr>
        <p:spPr>
          <a:xfrm>
            <a:off x="822960" y="5806440"/>
            <a:ext cx="10561320" cy="548640"/>
          </a:xfrm>
          <a:prstGeom prst="rect">
            <a:avLst/>
          </a:prstGeom>
          <a:noFill/>
          <a:ln/>
        </p:spPr>
        <p:txBody>
          <a:bodyPr wrap="square" lIns="0" tIns="0" rIns="0" bIns="0" rtlCol="0" anchor="ctr"/>
          <a:lstStyle/>
          <a:p>
            <a:pPr indent="0" marL="0">
              <a:lnSpc>
                <a:spcPct val="118000"/>
              </a:lnSpc>
              <a:buNone/>
            </a:pPr>
            <a:r>
              <a:rPr lang="en-US" sz="950" i="1" dirty="0">
                <a:solidFill>
                  <a:srgbClr val="9AA0A6"/>
                </a:solidFill>
                <a:latin typeface="Calibri" pitchFamily="34" charset="0"/>
                <a:ea typeface="Calibri" pitchFamily="34" charset="-122"/>
                <a:cs typeface="Calibri" pitchFamily="34" charset="-120"/>
              </a:rPr>
              <a:t>n = 4, one run per cell; indicative, not statistical.   </a:t>
            </a:r>
            <a:pPr indent="0" marL="0">
              <a:lnSpc>
                <a:spcPct val="118000"/>
              </a:lnSpc>
              <a:buNone/>
            </a:pPr>
            <a:r>
              <a:rPr lang="en-US" sz="950" i="1" dirty="0">
                <a:solidFill>
                  <a:srgbClr val="9AA0A6"/>
                </a:solidFill>
                <a:latin typeface="Calibri" pitchFamily="34" charset="0"/>
                <a:ea typeface="Calibri" pitchFamily="34" charset="-122"/>
                <a:cs typeface="Calibri" pitchFamily="34" charset="-120"/>
              </a:rPr>
              <a:t>Removing an over-fitted wiki line (“do not use A0F1T”) dropped gemini from 3/4 to 1–2/4, exposing this as a model limitation, not a prompt gap.   </a:t>
            </a:r>
            <a:pPr indent="0" marL="0">
              <a:lnSpc>
                <a:spcPct val="118000"/>
              </a:lnSpc>
              <a:buNone/>
            </a:pPr>
            <a:r>
              <a:rPr lang="en-US" sz="950" i="1" dirty="0">
                <a:solidFill>
                  <a:srgbClr val="9AA0A6"/>
                </a:solidFill>
                <a:latin typeface="Calibri" pitchFamily="34" charset="0"/>
                <a:ea typeface="Calibri" pitchFamily="34" charset="-122"/>
                <a:cs typeface="Calibri" pitchFamily="34" charset="-120"/>
              </a:rPr>
              <a:t>gpt-oss-120b also emitted malformed, facet-light codes.</a:t>
            </a:r>
            <a:endParaRPr lang="en-US" sz="950" dirty="0"/>
          </a:p>
        </p:txBody>
      </p:sp>
      <p:sp>
        <p:nvSpPr>
          <p:cNvPr id="11" name="Text 8"/>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11</a:t>
            </a:r>
            <a:endParaRPr lang="en-US" sz="950" dirty="0"/>
          </a:p>
        </p:txBody>
      </p:sp>
      <p:sp>
        <p:nvSpPr>
          <p:cNvPr id="12" name="Text 9"/>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A"/>
        </a:solidFill>
      </p:bgPr>
    </p:bg>
    <p:spTree>
      <p:nvGrpSpPr>
        <p:cNvPr id="1" name=""/>
        <p:cNvGrpSpPr/>
        <p:nvPr/>
      </p:nvGrpSpPr>
      <p:grpSpPr>
        <a:xfrm>
          <a:off x="0" y="0"/>
          <a:ext cx="0" cy="0"/>
          <a:chOff x="0" y="0"/>
          <a:chExt cx="0" cy="0"/>
        </a:xfrm>
      </p:grpSpPr>
      <p:sp>
        <p:nvSpPr>
          <p:cNvPr id="2" name="Text 0"/>
          <p:cNvSpPr/>
          <p:nvPr/>
        </p:nvSpPr>
        <p:spPr>
          <a:xfrm>
            <a:off x="822960" y="502920"/>
            <a:ext cx="10515600" cy="274320"/>
          </a:xfrm>
          <a:prstGeom prst="rect">
            <a:avLst/>
          </a:prstGeom>
          <a:noFill/>
          <a:ln/>
        </p:spPr>
        <p:txBody>
          <a:bodyPr wrap="square" lIns="0" tIns="0" rIns="0" bIns="0" rtlCol="0" anchor="ctr"/>
          <a:lstStyle/>
          <a:p>
            <a:pPr indent="0" marL="0">
              <a:buNone/>
            </a:pPr>
            <a:r>
              <a:rPr lang="en-US" sz="1150" b="1" spc="200" kern="0" dirty="0">
                <a:solidFill>
                  <a:srgbClr val="2E5247"/>
                </a:solidFill>
                <a:latin typeface="Calibri" pitchFamily="34" charset="0"/>
                <a:ea typeface="Calibri" pitchFamily="34" charset="-122"/>
                <a:cs typeface="Calibri" pitchFamily="34" charset="-120"/>
              </a:rPr>
              <a:t>§7   SUMMARY</a:t>
            </a:r>
            <a:endParaRPr lang="en-US" sz="1150" dirty="0"/>
          </a:p>
        </p:txBody>
      </p:sp>
      <p:sp>
        <p:nvSpPr>
          <p:cNvPr id="3" name="Text 1"/>
          <p:cNvSpPr/>
          <p:nvPr/>
        </p:nvSpPr>
        <p:spPr>
          <a:xfrm>
            <a:off x="822960" y="914400"/>
            <a:ext cx="10607040" cy="731520"/>
          </a:xfrm>
          <a:prstGeom prst="rect">
            <a:avLst/>
          </a:prstGeom>
          <a:noFill/>
          <a:ln/>
        </p:spPr>
        <p:txBody>
          <a:bodyPr wrap="square" lIns="0" tIns="0" rIns="0" bIns="0" rtlCol="0" anchor="ctr"/>
          <a:lstStyle/>
          <a:p>
            <a:pPr indent="0" marL="0">
              <a:buNone/>
            </a:pPr>
            <a:r>
              <a:rPr lang="en-US" sz="2800" b="1" dirty="0">
                <a:solidFill>
                  <a:srgbClr val="1F2933"/>
                </a:solidFill>
                <a:latin typeface="Georgia" pitchFamily="34" charset="0"/>
                <a:ea typeface="Georgia" pitchFamily="34" charset="-122"/>
                <a:cs typeface="Georgia" pitchFamily="34" charset="-120"/>
              </a:rPr>
              <a:t>Summary</a:t>
            </a:r>
            <a:endParaRPr lang="en-US" sz="2800" dirty="0"/>
          </a:p>
        </p:txBody>
      </p:sp>
      <p:sp>
        <p:nvSpPr>
          <p:cNvPr id="4" name="Text 2"/>
          <p:cNvSpPr/>
          <p:nvPr/>
        </p:nvSpPr>
        <p:spPr>
          <a:xfrm>
            <a:off x="822960" y="1645920"/>
            <a:ext cx="10515600" cy="914400"/>
          </a:xfrm>
          <a:prstGeom prst="rect">
            <a:avLst/>
          </a:prstGeom>
          <a:noFill/>
          <a:ln/>
        </p:spPr>
        <p:txBody>
          <a:bodyPr wrap="square" lIns="0" tIns="0" rIns="0" bIns="0" rtlCol="0" anchor="ctr"/>
          <a:lstStyle/>
          <a:p>
            <a:pPr indent="0" marL="0">
              <a:lnSpc>
                <a:spcPct val="122000"/>
              </a:lnSpc>
              <a:buNone/>
            </a:pPr>
            <a:r>
              <a:rPr lang="en-US" sz="1500" dirty="0">
                <a:solidFill>
                  <a:srgbClr val="434C54"/>
                </a:solidFill>
                <a:latin typeface="Calibri" pitchFamily="34" charset="0"/>
                <a:ea typeface="Calibri" pitchFamily="34" charset="-122"/>
                <a:cs typeface="Calibri" pitchFamily="34" charset="-120"/>
              </a:rPr>
              <a:t>Coding FoodEx2 is composition: the parts, and the knowledge to assemble them. This work contributes an architecture for each, and shows where the two must act together and where the model itself becomes the limit.</a:t>
            </a:r>
            <a:endParaRPr lang="en-US" sz="1500" dirty="0"/>
          </a:p>
        </p:txBody>
      </p:sp>
      <p:sp>
        <p:nvSpPr>
          <p:cNvPr id="5" name="Text 3"/>
          <p:cNvSpPr/>
          <p:nvPr/>
        </p:nvSpPr>
        <p:spPr>
          <a:xfrm>
            <a:off x="822960" y="2743200"/>
            <a:ext cx="10561320" cy="329184"/>
          </a:xfrm>
          <a:prstGeom prst="rect">
            <a:avLst/>
          </a:prstGeom>
          <a:noFill/>
          <a:ln/>
        </p:spPr>
        <p:txBody>
          <a:bodyPr wrap="square" lIns="0" tIns="0" rIns="0" bIns="0" rtlCol="0" anchor="ctr"/>
          <a:lstStyle/>
          <a:p>
            <a:pPr indent="0" marL="0">
              <a:buNone/>
            </a:pPr>
            <a:r>
              <a:rPr lang="en-US" sz="1450" b="1" dirty="0">
                <a:solidFill>
                  <a:srgbClr val="1F2933"/>
                </a:solidFill>
                <a:latin typeface="Georgia" pitchFamily="34" charset="0"/>
                <a:ea typeface="Georgia" pitchFamily="34" charset="-122"/>
                <a:cs typeface="Georgia" pitchFamily="34" charset="-120"/>
              </a:rPr>
              <a:t>Parts, by retrieval with decomposition.</a:t>
            </a:r>
            <a:endParaRPr lang="en-US" sz="1450" dirty="0"/>
          </a:p>
        </p:txBody>
      </p:sp>
      <p:sp>
        <p:nvSpPr>
          <p:cNvPr id="6" name="Text 4"/>
          <p:cNvSpPr/>
          <p:nvPr/>
        </p:nvSpPr>
        <p:spPr>
          <a:xfrm>
            <a:off x="822960" y="3090672"/>
            <a:ext cx="10561320" cy="457200"/>
          </a:xfrm>
          <a:prstGeom prst="rect">
            <a:avLst/>
          </a:prstGeom>
          <a:noFill/>
          <a:ln/>
        </p:spPr>
        <p:txBody>
          <a:bodyPr wrap="square" lIns="0" tIns="0" rIns="0" bIns="0" rtlCol="0" anchor="ctr"/>
          <a:lstStyle/>
          <a:p>
            <a:pPr indent="0" marL="0">
              <a:lnSpc>
                <a:spcPct val="112000"/>
              </a:lnSpc>
              <a:buNone/>
            </a:pPr>
            <a:r>
              <a:rPr lang="en-US" sz="1250" dirty="0">
                <a:solidFill>
                  <a:srgbClr val="434C54"/>
                </a:solidFill>
                <a:latin typeface="Calibri" pitchFamily="34" charset="0"/>
                <a:ea typeface="Calibri" pitchFamily="34" charset="-122"/>
                <a:cs typeface="Calibri" pitchFamily="34" charset="-120"/>
              </a:rPr>
              <a:t>A description is resolved into constituents before semantic search, so colloquial and composite inputs reach real catalogue terms.</a:t>
            </a:r>
            <a:endParaRPr lang="en-US" sz="1250" dirty="0"/>
          </a:p>
        </p:txBody>
      </p:sp>
      <p:sp>
        <p:nvSpPr>
          <p:cNvPr id="7" name="Shape 5"/>
          <p:cNvSpPr/>
          <p:nvPr/>
        </p:nvSpPr>
        <p:spPr>
          <a:xfrm>
            <a:off x="822960" y="3511296"/>
            <a:ext cx="10561320" cy="0"/>
          </a:xfrm>
          <a:prstGeom prst="line">
            <a:avLst/>
          </a:prstGeom>
          <a:noFill/>
          <a:ln w="9525">
            <a:solidFill>
              <a:srgbClr val="E4E2DC"/>
            </a:solidFill>
            <a:prstDash val="solid"/>
          </a:ln>
        </p:spPr>
      </p:sp>
      <p:sp>
        <p:nvSpPr>
          <p:cNvPr id="8" name="Text 6"/>
          <p:cNvSpPr/>
          <p:nvPr/>
        </p:nvSpPr>
        <p:spPr>
          <a:xfrm>
            <a:off x="822960" y="3584448"/>
            <a:ext cx="10561320" cy="329184"/>
          </a:xfrm>
          <a:prstGeom prst="rect">
            <a:avLst/>
          </a:prstGeom>
          <a:noFill/>
          <a:ln/>
        </p:spPr>
        <p:txBody>
          <a:bodyPr wrap="square" lIns="0" tIns="0" rIns="0" bIns="0" rtlCol="0" anchor="ctr"/>
          <a:lstStyle/>
          <a:p>
            <a:pPr indent="0" marL="0">
              <a:buNone/>
            </a:pPr>
            <a:r>
              <a:rPr lang="en-US" sz="1450" b="1" dirty="0">
                <a:solidFill>
                  <a:srgbClr val="1F2933"/>
                </a:solidFill>
                <a:latin typeface="Georgia" pitchFamily="34" charset="0"/>
                <a:ea typeface="Georgia" pitchFamily="34" charset="-122"/>
                <a:cs typeface="Georgia" pitchFamily="34" charset="-120"/>
              </a:rPr>
              <a:t>Knowledge, from a generated wiki.</a:t>
            </a:r>
            <a:endParaRPr lang="en-US" sz="1450" dirty="0"/>
          </a:p>
        </p:txBody>
      </p:sp>
      <p:sp>
        <p:nvSpPr>
          <p:cNvPr id="9" name="Text 7"/>
          <p:cNvSpPr/>
          <p:nvPr/>
        </p:nvSpPr>
        <p:spPr>
          <a:xfrm>
            <a:off x="822960" y="3931920"/>
            <a:ext cx="10561320" cy="457200"/>
          </a:xfrm>
          <a:prstGeom prst="rect">
            <a:avLst/>
          </a:prstGeom>
          <a:noFill/>
          <a:ln/>
        </p:spPr>
        <p:txBody>
          <a:bodyPr wrap="square" lIns="0" tIns="0" rIns="0" bIns="0" rtlCol="0" anchor="ctr"/>
          <a:lstStyle/>
          <a:p>
            <a:pPr indent="0" marL="0">
              <a:lnSpc>
                <a:spcPct val="112000"/>
              </a:lnSpc>
              <a:buNone/>
            </a:pPr>
            <a:r>
              <a:rPr lang="en-US" sz="1250" dirty="0">
                <a:solidFill>
                  <a:srgbClr val="434C54"/>
                </a:solidFill>
                <a:latin typeface="Calibri" pitchFamily="34" charset="0"/>
                <a:ea typeface="Calibri" pitchFamily="34" charset="-122"/>
                <a:cs typeface="Calibri" pitchFamily="34" charset="-120"/>
              </a:rPr>
              <a:t>Guidance is compiled into a maintained, domain-owned wiki; the case prompt is generated from it rather than hand-authored.</a:t>
            </a:r>
            <a:endParaRPr lang="en-US" sz="1250" dirty="0"/>
          </a:p>
        </p:txBody>
      </p:sp>
      <p:sp>
        <p:nvSpPr>
          <p:cNvPr id="10" name="Shape 8"/>
          <p:cNvSpPr/>
          <p:nvPr/>
        </p:nvSpPr>
        <p:spPr>
          <a:xfrm>
            <a:off x="822960" y="4352544"/>
            <a:ext cx="10561320" cy="0"/>
          </a:xfrm>
          <a:prstGeom prst="line">
            <a:avLst/>
          </a:prstGeom>
          <a:noFill/>
          <a:ln w="9525">
            <a:solidFill>
              <a:srgbClr val="E4E2DC"/>
            </a:solidFill>
            <a:prstDash val="solid"/>
          </a:ln>
        </p:spPr>
      </p:sp>
      <p:sp>
        <p:nvSpPr>
          <p:cNvPr id="11" name="Text 9"/>
          <p:cNvSpPr/>
          <p:nvPr/>
        </p:nvSpPr>
        <p:spPr>
          <a:xfrm>
            <a:off x="822960" y="4425696"/>
            <a:ext cx="10561320" cy="329184"/>
          </a:xfrm>
          <a:prstGeom prst="rect">
            <a:avLst/>
          </a:prstGeom>
          <a:noFill/>
          <a:ln/>
        </p:spPr>
        <p:txBody>
          <a:bodyPr wrap="square" lIns="0" tIns="0" rIns="0" bIns="0" rtlCol="0" anchor="ctr"/>
          <a:lstStyle/>
          <a:p>
            <a:pPr indent="0" marL="0">
              <a:buNone/>
            </a:pPr>
            <a:r>
              <a:rPr lang="en-US" sz="1450" b="1" dirty="0">
                <a:solidFill>
                  <a:srgbClr val="1F2933"/>
                </a:solidFill>
                <a:latin typeface="Georgia" pitchFamily="34" charset="0"/>
                <a:ea typeface="Georgia" pitchFamily="34" charset="-122"/>
                <a:cs typeface="Georgia" pitchFamily="34" charset="-120"/>
              </a:rPr>
              <a:t>The two must combine.</a:t>
            </a:r>
            <a:endParaRPr lang="en-US" sz="1450" dirty="0"/>
          </a:p>
        </p:txBody>
      </p:sp>
      <p:sp>
        <p:nvSpPr>
          <p:cNvPr id="12" name="Text 10"/>
          <p:cNvSpPr/>
          <p:nvPr/>
        </p:nvSpPr>
        <p:spPr>
          <a:xfrm>
            <a:off x="822960" y="4773168"/>
            <a:ext cx="10561320" cy="457200"/>
          </a:xfrm>
          <a:prstGeom prst="rect">
            <a:avLst/>
          </a:prstGeom>
          <a:noFill/>
          <a:ln/>
        </p:spPr>
        <p:txBody>
          <a:bodyPr wrap="square" lIns="0" tIns="0" rIns="0" bIns="0" rtlCol="0" anchor="ctr"/>
          <a:lstStyle/>
          <a:p>
            <a:pPr indent="0" marL="0">
              <a:lnSpc>
                <a:spcPct val="112000"/>
              </a:lnSpc>
              <a:buNone/>
            </a:pPr>
            <a:r>
              <a:rPr lang="en-US" sz="1250" dirty="0">
                <a:solidFill>
                  <a:srgbClr val="434C54"/>
                </a:solidFill>
                <a:latin typeface="Calibri" pitchFamily="34" charset="0"/>
                <a:ea typeface="Calibri" pitchFamily="34" charset="-122"/>
                <a:cs typeface="Calibri" pitchFamily="34" charset="-120"/>
              </a:rPr>
              <a:t>When the correct base is absent from the list, the knowledge supplies it. The architecture exists for this interaction, not for either half alone.</a:t>
            </a:r>
            <a:endParaRPr lang="en-US" sz="1250" dirty="0"/>
          </a:p>
        </p:txBody>
      </p:sp>
      <p:sp>
        <p:nvSpPr>
          <p:cNvPr id="13" name="Shape 11"/>
          <p:cNvSpPr/>
          <p:nvPr/>
        </p:nvSpPr>
        <p:spPr>
          <a:xfrm>
            <a:off x="822960" y="5193792"/>
            <a:ext cx="10561320" cy="0"/>
          </a:xfrm>
          <a:prstGeom prst="line">
            <a:avLst/>
          </a:prstGeom>
          <a:noFill/>
          <a:ln w="9525">
            <a:solidFill>
              <a:srgbClr val="E4E2DC"/>
            </a:solidFill>
            <a:prstDash val="solid"/>
          </a:ln>
        </p:spPr>
      </p:sp>
      <p:sp>
        <p:nvSpPr>
          <p:cNvPr id="14" name="Text 12"/>
          <p:cNvSpPr/>
          <p:nvPr/>
        </p:nvSpPr>
        <p:spPr>
          <a:xfrm>
            <a:off x="822960" y="5266944"/>
            <a:ext cx="10561320" cy="329184"/>
          </a:xfrm>
          <a:prstGeom prst="rect">
            <a:avLst/>
          </a:prstGeom>
          <a:noFill/>
          <a:ln/>
        </p:spPr>
        <p:txBody>
          <a:bodyPr wrap="square" lIns="0" tIns="0" rIns="0" bIns="0" rtlCol="0" anchor="ctr"/>
          <a:lstStyle/>
          <a:p>
            <a:pPr indent="0" marL="0">
              <a:buNone/>
            </a:pPr>
            <a:r>
              <a:rPr lang="en-US" sz="1450" b="1" dirty="0">
                <a:solidFill>
                  <a:srgbClr val="1F2933"/>
                </a:solidFill>
                <a:latin typeface="Georgia" pitchFamily="34" charset="0"/>
                <a:ea typeface="Georgia" pitchFamily="34" charset="-122"/>
                <a:cs typeface="Georgia" pitchFamily="34" charset="-120"/>
              </a:rPr>
              <a:t>And the model must be capable.</a:t>
            </a:r>
            <a:endParaRPr lang="en-US" sz="1450" dirty="0"/>
          </a:p>
        </p:txBody>
      </p:sp>
      <p:sp>
        <p:nvSpPr>
          <p:cNvPr id="15" name="Text 13"/>
          <p:cNvSpPr/>
          <p:nvPr/>
        </p:nvSpPr>
        <p:spPr>
          <a:xfrm>
            <a:off x="822960" y="5614416"/>
            <a:ext cx="10561320" cy="457200"/>
          </a:xfrm>
          <a:prstGeom prst="rect">
            <a:avLst/>
          </a:prstGeom>
          <a:noFill/>
          <a:ln/>
        </p:spPr>
        <p:txBody>
          <a:bodyPr wrap="square" lIns="0" tIns="0" rIns="0" bIns="0" rtlCol="0" anchor="ctr"/>
          <a:lstStyle/>
          <a:p>
            <a:pPr indent="0" marL="0">
              <a:lnSpc>
                <a:spcPct val="112000"/>
              </a:lnSpc>
              <a:buNone/>
            </a:pPr>
            <a:r>
              <a:rPr lang="en-US" sz="1250" dirty="0">
                <a:solidFill>
                  <a:srgbClr val="434C54"/>
                </a:solidFill>
                <a:latin typeface="Calibri" pitchFamily="34" charset="0"/>
                <a:ea typeface="Calibri" pitchFamily="34" charset="-122"/>
                <a:cs typeface="Calibri" pitchFamily="34" charset="-120"/>
              </a:rPr>
              <a:t>Reconciling a convention against a tempting valid term is a model-capability task; on that frontier, only the strongest model is reliable.</a:t>
            </a:r>
            <a:endParaRPr lang="en-US" sz="1250" dirty="0"/>
          </a:p>
        </p:txBody>
      </p:sp>
      <p:sp>
        <p:nvSpPr>
          <p:cNvPr id="16" name="Text 14"/>
          <p:cNvSpPr/>
          <p:nvPr/>
        </p:nvSpPr>
        <p:spPr>
          <a:xfrm>
            <a:off x="11002975" y="6400800"/>
            <a:ext cx="640080" cy="274320"/>
          </a:xfrm>
          <a:prstGeom prst="rect">
            <a:avLst/>
          </a:prstGeom>
          <a:noFill/>
          <a:ln/>
        </p:spPr>
        <p:txBody>
          <a:bodyPr wrap="square" lIns="0" tIns="0" rIns="0" bIns="0" rtlCol="0" anchor="ctr"/>
          <a:lstStyle/>
          <a:p>
            <a:pPr algn="r" indent="0" marL="0">
              <a:buNone/>
            </a:pPr>
            <a:r>
              <a:rPr lang="en-US" sz="950" dirty="0">
                <a:solidFill>
                  <a:srgbClr val="9AA0A6"/>
                </a:solidFill>
                <a:latin typeface="Calibri" pitchFamily="34" charset="0"/>
                <a:ea typeface="Calibri" pitchFamily="34" charset="-122"/>
                <a:cs typeface="Calibri" pitchFamily="34" charset="-120"/>
              </a:rPr>
              <a:t>12</a:t>
            </a:r>
            <a:endParaRPr lang="en-US" sz="950" dirty="0"/>
          </a:p>
        </p:txBody>
      </p:sp>
      <p:sp>
        <p:nvSpPr>
          <p:cNvPr id="17" name="Text 15"/>
          <p:cNvSpPr/>
          <p:nvPr/>
        </p:nvSpPr>
        <p:spPr>
          <a:xfrm>
            <a:off x="822960" y="6400800"/>
            <a:ext cx="7315200" cy="274320"/>
          </a:xfrm>
          <a:prstGeom prst="rect">
            <a:avLst/>
          </a:prstGeom>
          <a:noFill/>
          <a:ln/>
        </p:spPr>
        <p:txBody>
          <a:bodyPr wrap="square" lIns="0" tIns="0" rIns="0" bIns="0" rtlCol="0" anchor="ctr"/>
          <a:lstStyle/>
          <a:p>
            <a:pPr indent="0" marL="0">
              <a:buNone/>
            </a:pPr>
            <a:r>
              <a:rPr lang="en-US" sz="950" dirty="0">
                <a:solidFill>
                  <a:srgbClr val="9AA0A6"/>
                </a:solidFill>
                <a:latin typeface="Calibri" pitchFamily="34" charset="0"/>
                <a:ea typeface="Calibri" pitchFamily="34" charset="-122"/>
                <a:cs typeface="Calibri" pitchFamily="34" charset="-120"/>
              </a:rPr>
              <a:t>Assembling FoodEx2 codes with a language model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Assembling FoodEx2 codes with a language model</dc:title>
  <dc:subject>PptxGenJS Presentation</dc:subject>
  <dc:creator>David Foster</dc:creator>
  <cp:lastModifiedBy>David Foster</cp:lastModifiedBy>
  <cp:revision>1</cp:revision>
  <dcterms:created xsi:type="dcterms:W3CDTF">2026-06-07T08:11:09Z</dcterms:created>
  <dcterms:modified xsi:type="dcterms:W3CDTF">2026-06-07T08:11:09Z</dcterms:modified>
</cp:coreProperties>
</file>